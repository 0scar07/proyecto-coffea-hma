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Buenos días. Somos el equipo de Coffea IA, un proyecto de modelado aplicado, no un experimento de campo nuevo: tomamos datos ya publicados de crecimiento de café con y sin micorrizas, y construimos una herramienta que ajusta y compara modelos matemáticos de crecimiento sobre esos datos. En los próximos minutos mostramos qué hace la herramienta, qué encontramos, y qué limitaciones asumimos con honestidad.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Los hongos micorrízicos arbusculares se estudian como biofertilizante para el vivero de Coffea arabica. Pero comparar con y sin micorriza solo mirando promedios en una tabla no basta: no describe la forma del crecimiento ni cuantifica si la diferencia es estadísticamente sólida. El problema tiene dos partes: primero modelar matemáticamente cómo crece la planta, y después comparar los dos grupos con una prueba estadística apropiada.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El objetivo de la herramienta es automatizar dos resultados concretos, los mismos que calcula la app en la sección Resultados esperados. El primero es una tabla de bondad de ajuste: qué tan bien se ajusta cada modelo, medido con R², RMSE y MAE, por variable y por grupo. El segundo es una tabla del efecto de la inoculación: cuánto cambia la media de +M frente a −M en cada día, con su prueba t correspondiente.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Los datos base son reales, publicados por Aguirre-Medina y colegas en 2023: cuatro variables de crecimiento medidas en cuatro momentos, de los 28 a los 112 días después del trasplante, con cinco réplicas por grupo y día. Un punto que subrayamos siempre: el artículo original solo publica promedios y coeficiente de variación, no mediciones planta por planta. Por eso las réplicas individuales que usa la herramienta son sintéticas, generadas para reproducir esos estadísticos — no son observaciones nuevas de campo.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 Ajustamos tres modelos clásicos de crecimiento por mínimos cuadrados no lineales, usando curve fit: esto es regresión no lineal, no aprendizaje automático, no hay entrenamiento de ningún modelo predictivo. Para cada ajuste calculamos R², RMSE y MAE, y comparamos los grupos con una prueba t de Welch por variable y día. El punto que más nos importa metodológicamente: si un conjunto de datos no tiene suficientes días distintos, o si el ajuste no converge, la herramienta nunca fuerza un resultado — lo marca explícitamente.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La app está construida en Streamlit. El usuario carga datos de prueba simulados o el Excel real de Aguirre-Medina et al., y con un solo botón se ejecuta el ajuste de los tres modelos sobre las cuatro variables y los dos grupos. A partir de ahí la misma app genera las tablas, las gráficas de curvas y barras, y un reporte en PDF descargable. Aquí la ven corriendo con los datos reales.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 Esta gráfica resume el R² de los tres modelos en las cuatro variables y los dos grupos. En general el ajuste es bueno, entre 0.876 y 0.997 cuando el modelo converge. El mejor modelo no es siempre el mismo: en altura gana Exponencial o Logístico según el grupo, en área foliar Gompertz o Exponencial, y en biomasa y número de hojas, Logístico es consistentemente el mejor. Las barras vacías marcadas No convergió son Gompertz fallando en algunos grupos, que explicamos en la diapositiva de hallazgos.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Esta es la mejor figura para ilustrar el patrón general: área foliar en ambos grupos, con las réplicas observadas como círculos y las curvas convergidas superpuestas. Se ve que en la ventana muestreada el crecimiento todavía es acelerado, no se alcanza a ver el aplanamiento característico de un modelo sigmoide. Por eso, como notan en el pie de la figura, la asíntota K no se dibuja para Logístico ni Gompertz en ninguno de los dos grupos.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Aquí comparamos +M contra −M con la prueba t de Welch. El área foliar es el resultado más consistente: diferencia significativa en los cuatro días, con más de 97% de incremento a los 112 días. La biomasa total también es significativa en tres de cuatro días, con 71.7% de incremento al final. Altura y número de hojas no muestran diferencias significativas en la mayoría de los días. Importante: esto viene de réplicas sintéticas, ilustra la metodología, no es evidencia experimental nueva.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 Este es el hallazgo metodológico que más nos importa mostrar. En altura, grupo control, el modelo Logístico converge con buen R², pero estima una asíntota K de casi 800 mil centímetros, cuando la altura máxima observada es 15 centímetros: una asíntota sin sentido biológico. Por eso la herramienta exige cuatro condiciones antes de dibujar K: modelo convergido, R² de al menos 0.90, K hasta 1.5 veces el máximo observado, y punto de inflexión dentro de los días muestreados. Si alguna falla, no se dibuja: se anota.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La única validación completada hasta ahora es interna: un hold-out ochenta-veinte que mide qué tan estables son las medias estimadas, implementado en validacion cruzada real. Eso no mide generalización a otro estudio. La validación externa, con un conjunto de datos independiente de Coffea arabica, está en curso — todavía no tenemos resultados que mostrarles, y preferimos decirlo así de claro antes que insinuar un resultado que no existe.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Preferimos ser explícitos con las limitaciones en vez de minimizarlas. Primero, las réplicas son sintéticas, así que los valores p ilustran la metodología estadística, no constituyen evidencia experimental independiente nueva. Segundo, la ventana de muestreo, de 28 a 112 días, captura la fase acelerada del crecimiento, no la fase de desaceleración que necesitan los modelos sigmoides. Tercero, todo viene de un solo estudio de origen. Estas tres limitaciones son la motivación de la validación externa.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Esta es la tabla real de entregables. Ningún producto está cerrado todavía: varios ya tienen un borrador sólido listo para revisión, dos están cubiertos directamente por la app, y otros siguen como plantilla pendiente de datos reales. Esta misma ponencia y el artículo divulgativo son los dos productos que acabamos de completar en esta etapa; quedan marcados como material preparado, pendiente de presentar o publicar, no como hechos consumados.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Para cerrar: todo el código, los datos, y la documentación técnica navegable están en este mismo repositorio, incluida esta ponencia. Con gusto respondemos preguntas, y si alguien quiere ver el comportamiento de una variable específica en vivo, tenemos la app abierta para mostrarla en el momento. Gracias por su tiempo y por la retroalimentación que puedan darnos sobre este trabajo, que todavía está en preparación y revisión.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de respaldo, no forma parte de los 10-12 minutos principales. Usar solo si surge esta pregunta en la ronda de preguntas.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de respaldo, no forma parte de los 10-12 minutos principales. Usar solo si surge esta pregunta en la ronda de preguntas.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de respaldo, no forma parte de los 10-12 minutos principales. Usar solo si surge esta pregunta en la ronda de preguntas.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de respaldo, no forma parte de los 10-12 minutos principales. Usar solo si surge esta pregunta en la ronda de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A8432B"/>
        </a:solidFill>
        <a:effectLst/>
      </p:bgPr>
    </p:bg>
    <p:spTree>
      <p:nvGrpSpPr>
        <p:cNvPr id="1" name=""/>
        <p:cNvGrpSpPr/>
        <p:nvPr/>
      </p:nvGrpSpPr>
      <p:grpSpPr/>
      <p:sp>
        <p:nvSpPr>
          <p:cNvPr id="2" name="TextBox 1"/>
          <p:cNvSpPr txBox="1"/>
          <p:nvPr/>
        </p:nvSpPr>
        <p:spPr>
          <a:xfrm>
            <a:off x="548640" y="320040"/>
            <a:ext cx="7315200" cy="274320"/>
          </a:xfrm>
          <a:prstGeom prst="rect">
            <a:avLst/>
          </a:prstGeom>
          <a:noFill/>
        </p:spPr>
        <p:txBody>
          <a:bodyPr wrap="square" anchor="t">
            <a:spAutoFit/>
          </a:bodyPr>
          <a:lstStyle/>
          <a:p>
            <a:pPr algn="l">
              <a:lnSpc>
                <a:spcPct val="115000"/>
              </a:lnSpc>
            </a:pPr>
            <a:r>
              <a:rPr sz="1200" b="1">
                <a:solidFill>
                  <a:srgbClr val="F1ECE3"/>
                </a:solidFill>
                <a:latin typeface="Calibri"/>
              </a:rPr>
              <a:t>BORRADOR PARA REVISIÓN DEL DOCENTE</a:t>
            </a:r>
          </a:p>
        </p:txBody>
      </p:sp>
      <p:sp>
        <p:nvSpPr>
          <p:cNvPr id="3" name="TextBox 2"/>
          <p:cNvSpPr txBox="1"/>
          <p:nvPr/>
        </p:nvSpPr>
        <p:spPr>
          <a:xfrm>
            <a:off x="548640" y="1371600"/>
            <a:ext cx="11094415" cy="1920240"/>
          </a:xfrm>
          <a:prstGeom prst="rect">
            <a:avLst/>
          </a:prstGeom>
          <a:noFill/>
        </p:spPr>
        <p:txBody>
          <a:bodyPr wrap="square" anchor="t">
            <a:spAutoFit/>
          </a:bodyPr>
          <a:lstStyle/>
          <a:p>
            <a:pPr algn="l">
              <a:lnSpc>
                <a:spcPct val="112000"/>
              </a:lnSpc>
            </a:pPr>
            <a:r>
              <a:rPr sz="3400" b="1">
                <a:solidFill>
                  <a:srgbClr val="F1ECE3"/>
                </a:solidFill>
                <a:latin typeface="Georgia"/>
              </a:rPr>
              <a:t>Modelado y comparación de curvas de crecimiento en Coffea arabica con y sin micorrizas</a:t>
            </a:r>
          </a:p>
        </p:txBody>
      </p:sp>
      <p:sp>
        <p:nvSpPr>
          <p:cNvPr id="4" name="TextBox 3"/>
          <p:cNvSpPr txBox="1"/>
          <p:nvPr/>
        </p:nvSpPr>
        <p:spPr>
          <a:xfrm>
            <a:off x="548640" y="3429000"/>
            <a:ext cx="11094415" cy="640080"/>
          </a:xfrm>
          <a:prstGeom prst="rect">
            <a:avLst/>
          </a:prstGeom>
          <a:noFill/>
        </p:spPr>
        <p:txBody>
          <a:bodyPr wrap="square" anchor="t">
            <a:spAutoFit/>
          </a:bodyPr>
          <a:lstStyle/>
          <a:p>
            <a:pPr algn="l">
              <a:lnSpc>
                <a:spcPct val="115000"/>
              </a:lnSpc>
            </a:pPr>
            <a:r>
              <a:rPr sz="1900" b="0">
                <a:solidFill>
                  <a:srgbClr val="F1ECE3"/>
                </a:solidFill>
                <a:latin typeface="Calibri"/>
              </a:rPr>
              <a:t>Ajuste de tres modelos no lineales (Exponencial, Logístico, Gompertz) y comparación estadística +M vs −M con la app Coffea IA</a:t>
            </a:r>
          </a:p>
        </p:txBody>
      </p:sp>
      <p:sp>
        <p:nvSpPr>
          <p:cNvPr id="5" name="TextBox 4"/>
          <p:cNvSpPr txBox="1"/>
          <p:nvPr/>
        </p:nvSpPr>
        <p:spPr>
          <a:xfrm>
            <a:off x="548640" y="4480560"/>
            <a:ext cx="11094415" cy="411480"/>
          </a:xfrm>
          <a:prstGeom prst="rect">
            <a:avLst/>
          </a:prstGeom>
          <a:noFill/>
        </p:spPr>
        <p:txBody>
          <a:bodyPr wrap="square" anchor="t">
            <a:spAutoFit/>
          </a:bodyPr>
          <a:lstStyle/>
          <a:p>
            <a:pPr algn="l">
              <a:lnSpc>
                <a:spcPct val="115000"/>
              </a:lnSpc>
            </a:pPr>
            <a:r>
              <a:rPr sz="1700" b="1">
                <a:solidFill>
                  <a:srgbClr val="F1ECE3"/>
                </a:solidFill>
                <a:latin typeface="Calibri"/>
              </a:rPr>
              <a:t>Richard Montez  ·  Diego Barrios  ·  Santiago Uribe  ·  Oscar Llanos</a:t>
            </a:r>
          </a:p>
        </p:txBody>
      </p:sp>
      <p:sp>
        <p:nvSpPr>
          <p:cNvPr id="6" name="TextBox 5"/>
          <p:cNvSpPr txBox="1"/>
          <p:nvPr/>
        </p:nvSpPr>
        <p:spPr>
          <a:xfrm>
            <a:off x="548640" y="4892040"/>
            <a:ext cx="11094415" cy="365760"/>
          </a:xfrm>
          <a:prstGeom prst="rect">
            <a:avLst/>
          </a:prstGeom>
          <a:noFill/>
        </p:spPr>
        <p:txBody>
          <a:bodyPr wrap="square" anchor="t">
            <a:spAutoFit/>
          </a:bodyPr>
          <a:lstStyle/>
          <a:p>
            <a:pPr algn="l">
              <a:lnSpc>
                <a:spcPct val="115000"/>
              </a:lnSpc>
            </a:pPr>
            <a:r>
              <a:rPr sz="1400" b="0">
                <a:solidFill>
                  <a:srgbClr val="F1ECE3"/>
                </a:solidFill>
                <a:latin typeface="Calibri"/>
              </a:rPr>
              <a:t>Programa de Ingeniería, Universidad Simón Bolívar [facultad/departamento por definir]</a:t>
            </a:r>
          </a:p>
        </p:txBody>
      </p:sp>
      <p:sp>
        <p:nvSpPr>
          <p:cNvPr id="7" name="TextBox 6"/>
          <p:cNvSpPr txBox="1"/>
          <p:nvPr/>
        </p:nvSpPr>
        <p:spPr>
          <a:xfrm>
            <a:off x="548640" y="5257800"/>
            <a:ext cx="11094415" cy="365760"/>
          </a:xfrm>
          <a:prstGeom prst="rect">
            <a:avLst/>
          </a:prstGeom>
          <a:noFill/>
        </p:spPr>
        <p:txBody>
          <a:bodyPr wrap="square" anchor="t">
            <a:spAutoFit/>
          </a:bodyPr>
          <a:lstStyle/>
          <a:p>
            <a:pPr algn="l">
              <a:lnSpc>
                <a:spcPct val="115000"/>
              </a:lnSpc>
            </a:pPr>
            <a:r>
              <a:rPr sz="1400" b="0">
                <a:solidFill>
                  <a:srgbClr val="F1ECE3"/>
                </a:solidFill>
                <a:latin typeface="Calibri"/>
              </a:rPr>
              <a:t>Evento: [por definir]   ·   Fecha: [por definir]</a:t>
            </a:r>
          </a:p>
        </p:txBody>
      </p:sp>
      <p:sp>
        <p:nvSpPr>
          <p:cNvPr id="8" name="TextBox 7"/>
          <p:cNvSpPr txBox="1"/>
          <p:nvPr/>
        </p:nvSpPr>
        <p:spPr>
          <a:xfrm>
            <a:off x="548640" y="6126480"/>
            <a:ext cx="11094415" cy="365760"/>
          </a:xfrm>
          <a:prstGeom prst="rect">
            <a:avLst/>
          </a:prstGeom>
          <a:noFill/>
        </p:spPr>
        <p:txBody>
          <a:bodyPr wrap="square" anchor="t">
            <a:spAutoFit/>
          </a:bodyPr>
          <a:lstStyle/>
          <a:p>
            <a:pPr algn="l">
              <a:lnSpc>
                <a:spcPct val="115000"/>
              </a:lnSpc>
            </a:pPr>
            <a:r>
              <a:rPr sz="1300" b="0">
                <a:solidFill>
                  <a:srgbClr val="F1ECE3"/>
                </a:solidFill>
                <a:latin typeface="Calibri"/>
              </a:rPr>
              <a:t>github.com/0scar07/proyecto-coffea-hma</a:t>
            </a:r>
          </a:p>
        </p:txBody>
      </p:sp>
      <p:sp>
        <p:nvSpPr>
          <p:cNvPr id="9" name="TextBox 8"/>
          <p:cNvSpPr txBox="1"/>
          <p:nvPr/>
        </p:nvSpPr>
        <p:spPr>
          <a:xfrm>
            <a:off x="548640" y="6473952"/>
            <a:ext cx="2743200" cy="274320"/>
          </a:xfrm>
          <a:prstGeom prst="rect">
            <a:avLst/>
          </a:prstGeom>
          <a:noFill/>
        </p:spPr>
        <p:txBody>
          <a:bodyPr wrap="square" anchor="t">
            <a:spAutoFit/>
          </a:bodyPr>
          <a:lstStyle/>
          <a:p>
            <a:pPr algn="l">
              <a:lnSpc>
                <a:spcPct val="115000"/>
              </a:lnSpc>
            </a:pPr>
            <a:r>
              <a:rPr sz="1200" b="0">
                <a:solidFill>
                  <a:srgbClr val="F1ECE3"/>
                </a:solidFill>
                <a:latin typeface="Calibri"/>
              </a:rPr>
              <a:t>Coffea IA</a:t>
            </a:r>
          </a:p>
        </p:txBody>
      </p:sp>
      <p:sp>
        <p:nvSpPr>
          <p:cNvPr id="10" name="TextBox 9"/>
          <p:cNvSpPr txBox="1"/>
          <p:nvPr/>
        </p:nvSpPr>
        <p:spPr>
          <a:xfrm>
            <a:off x="10545775" y="6473952"/>
            <a:ext cx="1097280" cy="274320"/>
          </a:xfrm>
          <a:prstGeom prst="rect">
            <a:avLst/>
          </a:prstGeom>
          <a:noFill/>
        </p:spPr>
        <p:txBody>
          <a:bodyPr wrap="square" anchor="t">
            <a:spAutoFit/>
          </a:bodyPr>
          <a:lstStyle/>
          <a:p>
            <a:pPr algn="r">
              <a:lnSpc>
                <a:spcPct val="115000"/>
              </a:lnSpc>
            </a:pPr>
            <a:r>
              <a:rPr sz="1200" b="0">
                <a:solidFill>
                  <a:srgbClr val="F1ECE3"/>
                </a:solidFill>
                <a:latin typeface="Calibri"/>
              </a:rP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A8432B"/>
        </a:solidFill>
        <a:effectLst/>
      </p:bgPr>
    </p:bg>
    <p:spTree>
      <p:nvGrpSpPr>
        <p:cNvPr id="1" name=""/>
        <p:cNvGrpSpPr/>
        <p:nvPr/>
      </p:nvGrpSpPr>
      <p:grpSpPr/>
      <p:sp>
        <p:nvSpPr>
          <p:cNvPr id="2" name="TextBox 1"/>
          <p:cNvSpPr txBox="1"/>
          <p:nvPr/>
        </p:nvSpPr>
        <p:spPr>
          <a:xfrm>
            <a:off x="548640" y="914400"/>
            <a:ext cx="11094415" cy="960120"/>
          </a:xfrm>
          <a:prstGeom prst="rect">
            <a:avLst/>
          </a:prstGeom>
          <a:noFill/>
        </p:spPr>
        <p:txBody>
          <a:bodyPr wrap="square" anchor="t">
            <a:spAutoFit/>
          </a:bodyPr>
          <a:lstStyle/>
          <a:p>
            <a:pPr algn="l">
              <a:lnSpc>
                <a:spcPct val="115000"/>
              </a:lnSpc>
            </a:pPr>
            <a:r>
              <a:rPr sz="3200" b="1">
                <a:solidFill>
                  <a:srgbClr val="F1ECE3"/>
                </a:solidFill>
                <a:latin typeface="Georgia"/>
              </a:rPr>
              <a:t>El problema</a:t>
            </a:r>
          </a:p>
        </p:txBody>
      </p:sp>
      <p:sp>
        <p:nvSpPr>
          <p:cNvPr id="3" name="Rectangle 2"/>
          <p:cNvSpPr/>
          <p:nvPr/>
        </p:nvSpPr>
        <p:spPr>
          <a:xfrm>
            <a:off x="548640" y="1691640"/>
            <a:ext cx="822960" cy="40640"/>
          </a:xfrm>
          <a:prstGeom prst="rect">
            <a:avLst/>
          </a:prstGeom>
          <a:solidFill>
            <a:srgbClr val="F1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1094415" cy="2743200"/>
          </a:xfrm>
          <a:prstGeom prst="rect">
            <a:avLst/>
          </a:prstGeom>
          <a:noFill/>
        </p:spPr>
        <p:txBody>
          <a:bodyPr wrap="square">
            <a:spAutoFit/>
          </a:bodyPr>
          <a:lstStyle/>
          <a:p>
            <a:pPr>
              <a:lnSpc>
                <a:spcPct val="118000"/>
              </a:lnSpc>
              <a:spcBef>
                <a:spcPts val="0"/>
              </a:spcBef>
            </a:pPr>
            <a:r>
              <a:rPr sz="2100">
                <a:solidFill>
                  <a:srgbClr val="F1ECE3"/>
                </a:solidFill>
                <a:latin typeface="Calibri"/>
              </a:rPr>
              <a:t>—  HMA: biofertilizante de interés para el vivero de café.</a:t>
            </a:r>
          </a:p>
          <a:p>
            <a:pPr>
              <a:lnSpc>
                <a:spcPct val="118000"/>
              </a:lnSpc>
              <a:spcBef>
                <a:spcPts val="1000"/>
              </a:spcBef>
            </a:pPr>
            <a:r>
              <a:rPr sz="2100">
                <a:solidFill>
                  <a:srgbClr val="F1ECE3"/>
                </a:solidFill>
                <a:latin typeface="Calibri"/>
              </a:rPr>
              <a:t>—  Pregunta: ¿cómo modelar y comparar el crecimiento con rigor?</a:t>
            </a:r>
          </a:p>
          <a:p>
            <a:pPr>
              <a:lnSpc>
                <a:spcPct val="118000"/>
              </a:lnSpc>
              <a:spcBef>
                <a:spcPts val="1000"/>
              </a:spcBef>
            </a:pPr>
            <a:r>
              <a:rPr sz="2100">
                <a:solidFill>
                  <a:srgbClr val="F1ECE3"/>
                </a:solidFill>
                <a:latin typeface="Calibri"/>
              </a:rPr>
              <a:t>—  Dos pasos: modelar la forma, comparar los grupos.</a:t>
            </a:r>
          </a:p>
        </p:txBody>
      </p:sp>
      <p:sp>
        <p:nvSpPr>
          <p:cNvPr id="5" name="TextBox 4"/>
          <p:cNvSpPr txBox="1"/>
          <p:nvPr/>
        </p:nvSpPr>
        <p:spPr>
          <a:xfrm>
            <a:off x="548640" y="6473952"/>
            <a:ext cx="2743200" cy="274320"/>
          </a:xfrm>
          <a:prstGeom prst="rect">
            <a:avLst/>
          </a:prstGeom>
          <a:noFill/>
        </p:spPr>
        <p:txBody>
          <a:bodyPr wrap="square" anchor="t">
            <a:spAutoFit/>
          </a:bodyPr>
          <a:lstStyle/>
          <a:p>
            <a:pPr algn="l">
              <a:lnSpc>
                <a:spcPct val="115000"/>
              </a:lnSpc>
            </a:pPr>
            <a:r>
              <a:rPr sz="1200" b="0">
                <a:solidFill>
                  <a:srgbClr val="F1ECE3"/>
                </a:solidFill>
                <a:latin typeface="Calibri"/>
              </a:rPr>
              <a:t>Coffea IA</a:t>
            </a:r>
          </a:p>
        </p:txBody>
      </p:sp>
      <p:sp>
        <p:nvSpPr>
          <p:cNvPr id="6" name="TextBox 5"/>
          <p:cNvSpPr txBox="1"/>
          <p:nvPr/>
        </p:nvSpPr>
        <p:spPr>
          <a:xfrm>
            <a:off x="10545775" y="6473952"/>
            <a:ext cx="1097280" cy="274320"/>
          </a:xfrm>
          <a:prstGeom prst="rect">
            <a:avLst/>
          </a:prstGeom>
          <a:noFill/>
        </p:spPr>
        <p:txBody>
          <a:bodyPr wrap="square" anchor="t">
            <a:spAutoFit/>
          </a:bodyPr>
          <a:lstStyle/>
          <a:p>
            <a:pPr algn="r">
              <a:lnSpc>
                <a:spcPct val="115000"/>
              </a:lnSpc>
            </a:pPr>
            <a:r>
              <a:rPr sz="1200" b="0">
                <a:solidFill>
                  <a:srgbClr val="F1ECE3"/>
                </a:solidFill>
                <a:latin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960120"/>
          </a:xfrm>
          <a:prstGeom prst="rect">
            <a:avLst/>
          </a:prstGeom>
          <a:noFill/>
        </p:spPr>
        <p:txBody>
          <a:bodyPr wrap="square" anchor="t">
            <a:spAutoFit/>
          </a:bodyPr>
          <a:lstStyle/>
          <a:p>
            <a:pPr algn="l">
              <a:lnSpc>
                <a:spcPct val="115000"/>
              </a:lnSpc>
            </a:pPr>
            <a:r>
              <a:rPr sz="3200" b="1">
                <a:solidFill>
                  <a:srgbClr val="201C18"/>
                </a:solidFill>
                <a:latin typeface="Georgia"/>
              </a:rPr>
              <a:t>Objetivo y resultados esperados</a:t>
            </a:r>
          </a:p>
        </p:txBody>
      </p:sp>
      <p:sp>
        <p:nvSpPr>
          <p:cNvPr id="3" name="Rectangle 2"/>
          <p:cNvSpPr/>
          <p:nvPr/>
        </p:nvSpPr>
        <p:spPr>
          <a:xfrm>
            <a:off x="548640" y="1280160"/>
            <a:ext cx="822960" cy="40640"/>
          </a:xfrm>
          <a:prstGeom prst="rect">
            <a:avLst/>
          </a:prstGeom>
          <a:solidFill>
            <a:srgbClr val="A8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94415" cy="2743200"/>
          </a:xfrm>
          <a:prstGeom prst="rect">
            <a:avLst/>
          </a:prstGeom>
          <a:noFill/>
        </p:spPr>
        <p:txBody>
          <a:bodyPr wrap="square">
            <a:spAutoFit/>
          </a:bodyPr>
          <a:lstStyle/>
          <a:p>
            <a:pPr>
              <a:lnSpc>
                <a:spcPct val="118000"/>
              </a:lnSpc>
              <a:spcBef>
                <a:spcPts val="0"/>
              </a:spcBef>
            </a:pPr>
            <a:r>
              <a:rPr sz="1900">
                <a:solidFill>
                  <a:srgbClr val="201C18"/>
                </a:solidFill>
                <a:latin typeface="Calibri"/>
              </a:rPr>
              <a:t>—  Objetivo: ajustar 3 modelos y comparar −M vs +M.</a:t>
            </a:r>
          </a:p>
          <a:p>
            <a:pPr>
              <a:lnSpc>
                <a:spcPct val="118000"/>
              </a:lnSpc>
              <a:spcBef>
                <a:spcPts val="1000"/>
              </a:spcBef>
            </a:pPr>
            <a:r>
              <a:rPr sz="1900">
                <a:solidFill>
                  <a:srgbClr val="201C18"/>
                </a:solidFill>
                <a:latin typeface="Calibri"/>
              </a:rPr>
              <a:t>—  Resultado esperado 1: tabla de bondad de ajuste (R², RMSE, MAE).</a:t>
            </a:r>
          </a:p>
          <a:p>
            <a:pPr>
              <a:lnSpc>
                <a:spcPct val="118000"/>
              </a:lnSpc>
              <a:spcBef>
                <a:spcPts val="1000"/>
              </a:spcBef>
            </a:pPr>
            <a:r>
              <a:rPr sz="1900">
                <a:solidFill>
                  <a:srgbClr val="201C18"/>
                </a:solidFill>
                <a:latin typeface="Calibri"/>
              </a:rPr>
              <a:t>—  Resultado esperado 2: tabla del efecto de la inoculación.</a:t>
            </a:r>
          </a:p>
        </p:txBody>
      </p:sp>
      <p:sp>
        <p:nvSpPr>
          <p:cNvPr id="5" name="TextBox 4"/>
          <p:cNvSpPr txBox="1"/>
          <p:nvPr/>
        </p:nvSpPr>
        <p:spPr>
          <a:xfrm>
            <a:off x="548640" y="6473952"/>
            <a:ext cx="2743200" cy="274320"/>
          </a:xfrm>
          <a:prstGeom prst="rect">
            <a:avLst/>
          </a:prstGeom>
          <a:noFill/>
        </p:spPr>
        <p:txBody>
          <a:bodyPr wrap="square" anchor="t">
            <a:spAutoFit/>
          </a:bodyPr>
          <a:lstStyle/>
          <a:p>
            <a:pPr algn="l">
              <a:lnSpc>
                <a:spcPct val="115000"/>
              </a:lnSpc>
            </a:pPr>
            <a:r>
              <a:rPr sz="1200" b="0">
                <a:solidFill>
                  <a:srgbClr val="8A8277"/>
                </a:solidFill>
                <a:latin typeface="Calibri"/>
              </a:rPr>
              <a:t>Coffea IA</a:t>
            </a:r>
          </a:p>
        </p:txBody>
      </p:sp>
      <p:sp>
        <p:nvSpPr>
          <p:cNvPr id="6" name="TextBox 5"/>
          <p:cNvSpPr txBox="1"/>
          <p:nvPr/>
        </p:nvSpPr>
        <p:spPr>
          <a:xfrm>
            <a:off x="10545775" y="6473952"/>
            <a:ext cx="1097280" cy="274320"/>
          </a:xfrm>
          <a:prstGeom prst="rect">
            <a:avLst/>
          </a:prstGeom>
          <a:noFill/>
        </p:spPr>
        <p:txBody>
          <a:bodyPr wrap="square" anchor="t">
            <a:spAutoFit/>
          </a:bodyPr>
          <a:lstStyle/>
          <a:p>
            <a:pPr algn="r">
              <a:lnSpc>
                <a:spcPct val="115000"/>
              </a:lnSpc>
            </a:pPr>
            <a:r>
              <a:rPr sz="1200" b="0">
                <a:solidFill>
                  <a:srgbClr val="8A8277"/>
                </a:solidFill>
                <a:latin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960120"/>
          </a:xfrm>
          <a:prstGeom prst="rect">
            <a:avLst/>
          </a:prstGeom>
          <a:noFill/>
        </p:spPr>
        <p:txBody>
          <a:bodyPr wrap="square" anchor="t">
            <a:spAutoFit/>
          </a:bodyPr>
          <a:lstStyle/>
          <a:p>
            <a:pPr algn="l">
              <a:lnSpc>
                <a:spcPct val="115000"/>
              </a:lnSpc>
            </a:pPr>
            <a:r>
              <a:rPr sz="3200" b="1">
                <a:solidFill>
                  <a:srgbClr val="201C18"/>
                </a:solidFill>
                <a:latin typeface="Georgia"/>
              </a:rPr>
              <a:t>Los datos</a:t>
            </a:r>
          </a:p>
        </p:txBody>
      </p:sp>
      <p:sp>
        <p:nvSpPr>
          <p:cNvPr id="3" name="Rectangle 2"/>
          <p:cNvSpPr/>
          <p:nvPr/>
        </p:nvSpPr>
        <p:spPr>
          <a:xfrm>
            <a:off x="548640" y="1280160"/>
            <a:ext cx="822960" cy="40640"/>
          </a:xfrm>
          <a:prstGeom prst="rect">
            <a:avLst/>
          </a:prstGeom>
          <a:solidFill>
            <a:srgbClr val="A8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94415" cy="2743200"/>
          </a:xfrm>
          <a:prstGeom prst="rect">
            <a:avLst/>
          </a:prstGeom>
          <a:noFill/>
        </p:spPr>
        <p:txBody>
          <a:bodyPr wrap="square">
            <a:spAutoFit/>
          </a:bodyPr>
          <a:lstStyle/>
          <a:p>
            <a:pPr>
              <a:lnSpc>
                <a:spcPct val="118000"/>
              </a:lnSpc>
              <a:spcBef>
                <a:spcPts val="0"/>
              </a:spcBef>
            </a:pPr>
            <a:r>
              <a:rPr sz="1900">
                <a:solidFill>
                  <a:srgbClr val="201C18"/>
                </a:solidFill>
                <a:latin typeface="Calibri"/>
              </a:rPr>
              <a:t>—  Fuente: Aguirre-Medina et al. (2023), Rev. Fitotecnia Mexicana.</a:t>
            </a:r>
          </a:p>
          <a:p>
            <a:pPr>
              <a:lnSpc>
                <a:spcPct val="118000"/>
              </a:lnSpc>
              <a:spcBef>
                <a:spcPts val="1000"/>
              </a:spcBef>
            </a:pPr>
            <a:r>
              <a:rPr sz="1900">
                <a:solidFill>
                  <a:srgbClr val="201C18"/>
                </a:solidFill>
                <a:latin typeface="Calibri"/>
              </a:rPr>
              <a:t>—  4 variables · 4 momentos (28-112 ddt) · 5 réplicas.</a:t>
            </a:r>
          </a:p>
          <a:p>
            <a:pPr>
              <a:lnSpc>
                <a:spcPct val="118000"/>
              </a:lnSpc>
              <a:spcBef>
                <a:spcPts val="1000"/>
              </a:spcBef>
            </a:pPr>
            <a:r>
              <a:rPr sz="1900">
                <a:solidFill>
                  <a:srgbClr val="201C18"/>
                </a:solidFill>
                <a:latin typeface="Calibri"/>
              </a:rPr>
              <a:t>—  Grupos: −M (control) y +M (inoculado con HMA).</a:t>
            </a:r>
          </a:p>
          <a:p>
            <a:pPr>
              <a:lnSpc>
                <a:spcPct val="118000"/>
              </a:lnSpc>
              <a:spcBef>
                <a:spcPts val="1000"/>
              </a:spcBef>
            </a:pPr>
            <a:r>
              <a:rPr sz="1900">
                <a:solidFill>
                  <a:srgbClr val="201C18"/>
                </a:solidFill>
                <a:latin typeface="Calibri"/>
              </a:rPr>
              <a:t>—  Réplicas sintéticas: reconstruidas desde medias y CV% publicados.</a:t>
            </a:r>
          </a:p>
        </p:txBody>
      </p:sp>
      <p:sp>
        <p:nvSpPr>
          <p:cNvPr id="5" name="TextBox 4"/>
          <p:cNvSpPr txBox="1"/>
          <p:nvPr/>
        </p:nvSpPr>
        <p:spPr>
          <a:xfrm>
            <a:off x="548640" y="6473952"/>
            <a:ext cx="2743200" cy="274320"/>
          </a:xfrm>
          <a:prstGeom prst="rect">
            <a:avLst/>
          </a:prstGeom>
          <a:noFill/>
        </p:spPr>
        <p:txBody>
          <a:bodyPr wrap="square" anchor="t">
            <a:spAutoFit/>
          </a:bodyPr>
          <a:lstStyle/>
          <a:p>
            <a:pPr algn="l">
              <a:lnSpc>
                <a:spcPct val="115000"/>
              </a:lnSpc>
            </a:pPr>
            <a:r>
              <a:rPr sz="1200" b="0">
                <a:solidFill>
                  <a:srgbClr val="8A8277"/>
                </a:solidFill>
                <a:latin typeface="Calibri"/>
              </a:rPr>
              <a:t>Coffea IA</a:t>
            </a:r>
          </a:p>
        </p:txBody>
      </p:sp>
      <p:sp>
        <p:nvSpPr>
          <p:cNvPr id="6" name="TextBox 5"/>
          <p:cNvSpPr txBox="1"/>
          <p:nvPr/>
        </p:nvSpPr>
        <p:spPr>
          <a:xfrm>
            <a:off x="10545775" y="6473952"/>
            <a:ext cx="1097280" cy="274320"/>
          </a:xfrm>
          <a:prstGeom prst="rect">
            <a:avLst/>
          </a:prstGeom>
          <a:noFill/>
        </p:spPr>
        <p:txBody>
          <a:bodyPr wrap="square" anchor="t">
            <a:spAutoFit/>
          </a:bodyPr>
          <a:lstStyle/>
          <a:p>
            <a:pPr algn="r">
              <a:lnSpc>
                <a:spcPct val="115000"/>
              </a:lnSpc>
            </a:pPr>
            <a:r>
              <a:rPr sz="1200" b="0">
                <a:solidFill>
                  <a:srgbClr val="8A8277"/>
                </a:solidFill>
                <a:latin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A8432B"/>
        </a:solidFill>
        <a:effectLst/>
      </p:bgPr>
    </p:bg>
    <p:spTree>
      <p:nvGrpSpPr>
        <p:cNvPr id="1" name=""/>
        <p:cNvGrpSpPr/>
        <p:nvPr/>
      </p:nvGrpSpPr>
      <p:grpSpPr/>
      <p:sp>
        <p:nvSpPr>
          <p:cNvPr id="2" name="TextBox 1"/>
          <p:cNvSpPr txBox="1"/>
          <p:nvPr/>
        </p:nvSpPr>
        <p:spPr>
          <a:xfrm>
            <a:off x="548640" y="914400"/>
            <a:ext cx="11094415" cy="960120"/>
          </a:xfrm>
          <a:prstGeom prst="rect">
            <a:avLst/>
          </a:prstGeom>
          <a:noFill/>
        </p:spPr>
        <p:txBody>
          <a:bodyPr wrap="square" anchor="t">
            <a:spAutoFit/>
          </a:bodyPr>
          <a:lstStyle/>
          <a:p>
            <a:pPr algn="l">
              <a:lnSpc>
                <a:spcPct val="115000"/>
              </a:lnSpc>
            </a:pPr>
            <a:r>
              <a:rPr sz="3200" b="1">
                <a:solidFill>
                  <a:srgbClr val="F1ECE3"/>
                </a:solidFill>
                <a:latin typeface="Georgia"/>
              </a:rPr>
              <a:t>Métodos</a:t>
            </a:r>
          </a:p>
        </p:txBody>
      </p:sp>
      <p:sp>
        <p:nvSpPr>
          <p:cNvPr id="3" name="Rectangle 2"/>
          <p:cNvSpPr/>
          <p:nvPr/>
        </p:nvSpPr>
        <p:spPr>
          <a:xfrm>
            <a:off x="548640" y="1691640"/>
            <a:ext cx="822960" cy="40640"/>
          </a:xfrm>
          <a:prstGeom prst="rect">
            <a:avLst/>
          </a:prstGeom>
          <a:solidFill>
            <a:srgbClr val="F1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1094415" cy="3200400"/>
          </a:xfrm>
          <a:prstGeom prst="rect">
            <a:avLst/>
          </a:prstGeom>
          <a:noFill/>
        </p:spPr>
        <p:txBody>
          <a:bodyPr wrap="square">
            <a:spAutoFit/>
          </a:bodyPr>
          <a:lstStyle/>
          <a:p>
            <a:pPr>
              <a:lnSpc>
                <a:spcPct val="118000"/>
              </a:lnSpc>
              <a:spcBef>
                <a:spcPts val="0"/>
              </a:spcBef>
            </a:pPr>
            <a:r>
              <a:rPr sz="2000">
                <a:solidFill>
                  <a:srgbClr val="F1ECE3"/>
                </a:solidFill>
                <a:latin typeface="Calibri"/>
              </a:rPr>
              <a:t>—  3 modelos: Exponencial, Logístico, Gompertz (regresión no lineal).</a:t>
            </a:r>
          </a:p>
          <a:p>
            <a:pPr>
              <a:lnSpc>
                <a:spcPct val="118000"/>
              </a:lnSpc>
              <a:spcBef>
                <a:spcPts val="1000"/>
              </a:spcBef>
            </a:pPr>
            <a:r>
              <a:rPr sz="2000">
                <a:solidFill>
                  <a:srgbClr val="F1ECE3"/>
                </a:solidFill>
                <a:latin typeface="Calibri"/>
              </a:rPr>
              <a:t>—  Métricas: R², RMSE, MAE por variable, grupo y modelo.</a:t>
            </a:r>
          </a:p>
          <a:p>
            <a:pPr>
              <a:lnSpc>
                <a:spcPct val="118000"/>
              </a:lnSpc>
              <a:spcBef>
                <a:spcPts val="1000"/>
              </a:spcBef>
            </a:pPr>
            <a:r>
              <a:rPr sz="2000">
                <a:solidFill>
                  <a:srgbClr val="F1ECE3"/>
                </a:solidFill>
                <a:latin typeface="Calibri"/>
              </a:rPr>
              <a:t>—  Comparación de grupos: prueba t de Welch por día.</a:t>
            </a:r>
          </a:p>
          <a:p>
            <a:pPr>
              <a:lnSpc>
                <a:spcPct val="118000"/>
              </a:lnSpc>
              <a:spcBef>
                <a:spcPts val="1000"/>
              </a:spcBef>
            </a:pPr>
            <a:r>
              <a:rPr sz="2000">
                <a:solidFill>
                  <a:srgbClr val="F1ECE3"/>
                </a:solidFill>
                <a:latin typeface="Calibri"/>
              </a:rPr>
              <a:t>—  Sin días suficientes o sin convergencia: no se fuerza un ajuste.</a:t>
            </a:r>
          </a:p>
        </p:txBody>
      </p:sp>
      <p:sp>
        <p:nvSpPr>
          <p:cNvPr id="5" name="TextBox 4"/>
          <p:cNvSpPr txBox="1"/>
          <p:nvPr/>
        </p:nvSpPr>
        <p:spPr>
          <a:xfrm>
            <a:off x="548640" y="6473952"/>
            <a:ext cx="2743200" cy="274320"/>
          </a:xfrm>
          <a:prstGeom prst="rect">
            <a:avLst/>
          </a:prstGeom>
          <a:noFill/>
        </p:spPr>
        <p:txBody>
          <a:bodyPr wrap="square" anchor="t">
            <a:spAutoFit/>
          </a:bodyPr>
          <a:lstStyle/>
          <a:p>
            <a:pPr algn="l">
              <a:lnSpc>
                <a:spcPct val="115000"/>
              </a:lnSpc>
            </a:pPr>
            <a:r>
              <a:rPr sz="1200" b="0">
                <a:solidFill>
                  <a:srgbClr val="F1ECE3"/>
                </a:solidFill>
                <a:latin typeface="Calibri"/>
              </a:rPr>
              <a:t>Coffea IA</a:t>
            </a:r>
          </a:p>
        </p:txBody>
      </p:sp>
      <p:sp>
        <p:nvSpPr>
          <p:cNvPr id="6" name="TextBox 5"/>
          <p:cNvSpPr txBox="1"/>
          <p:nvPr/>
        </p:nvSpPr>
        <p:spPr>
          <a:xfrm>
            <a:off x="10545775" y="6473952"/>
            <a:ext cx="1097280" cy="274320"/>
          </a:xfrm>
          <a:prstGeom prst="rect">
            <a:avLst/>
          </a:prstGeom>
          <a:noFill/>
        </p:spPr>
        <p:txBody>
          <a:bodyPr wrap="square" anchor="t">
            <a:spAutoFit/>
          </a:bodyPr>
          <a:lstStyle/>
          <a:p>
            <a:pPr algn="r">
              <a:lnSpc>
                <a:spcPct val="115000"/>
              </a:lnSpc>
            </a:pPr>
            <a:r>
              <a:rPr sz="1200" b="0">
                <a:solidFill>
                  <a:srgbClr val="F1ECE3"/>
                </a:solidFill>
                <a:latin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960120"/>
          </a:xfrm>
          <a:prstGeom prst="rect">
            <a:avLst/>
          </a:prstGeom>
          <a:noFill/>
        </p:spPr>
        <p:txBody>
          <a:bodyPr wrap="square" anchor="t">
            <a:spAutoFit/>
          </a:bodyPr>
          <a:lstStyle/>
          <a:p>
            <a:pPr algn="l">
              <a:lnSpc>
                <a:spcPct val="115000"/>
              </a:lnSpc>
            </a:pPr>
            <a:r>
              <a:rPr sz="3000" b="1">
                <a:solidFill>
                  <a:srgbClr val="201C18"/>
                </a:solidFill>
                <a:latin typeface="Georgia"/>
              </a:rPr>
              <a:t>La app</a:t>
            </a:r>
          </a:p>
        </p:txBody>
      </p:sp>
      <p:sp>
        <p:nvSpPr>
          <p:cNvPr id="3" name="Rectangle 2"/>
          <p:cNvSpPr/>
          <p:nvPr/>
        </p:nvSpPr>
        <p:spPr>
          <a:xfrm>
            <a:off x="548640" y="1188720"/>
            <a:ext cx="822960" cy="40640"/>
          </a:xfrm>
          <a:prstGeom prst="rect">
            <a:avLst/>
          </a:prstGeom>
          <a:solidFill>
            <a:srgbClr val="A8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descr="Paso del flujo: Datos (cargar_datos_desde_archivo)"/>
          <p:cNvSpPr/>
          <p:nvPr/>
        </p:nvSpPr>
        <p:spPr>
          <a:xfrm>
            <a:off x="764895" y="1417320"/>
            <a:ext cx="2514600" cy="960120"/>
          </a:xfrm>
          <a:prstGeom prst="roundRect">
            <a:avLst/>
          </a:prstGeom>
          <a:solidFill>
            <a:srgbClr val="F1ECE3"/>
          </a:solidFill>
          <a:ln w="15875">
            <a:solidFill>
              <a:srgbClr val="A8432B"/>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a:lstStyle/>
          <a:p>
            <a:pPr algn="ctr"/>
            <a:r>
              <a:rPr b="1" sz="1400">
                <a:solidFill>
                  <a:srgbClr val="201C18"/>
                </a:solidFill>
                <a:latin typeface="Calibri"/>
              </a:rPr>
              <a:t>Datos</a:t>
            </a:r>
          </a:p>
          <a:p>
            <a:pPr algn="ctr"/>
            <a:r>
              <a:rPr sz="1050">
                <a:solidFill>
                  <a:srgbClr val="A8432B"/>
                </a:solidFill>
                <a:latin typeface="Consolas"/>
              </a:rPr>
              <a:t>cargar_datos_desde_archivo</a:t>
            </a:r>
          </a:p>
        </p:txBody>
      </p:sp>
      <p:sp>
        <p:nvSpPr>
          <p:cNvPr id="5" name="Right Arrow 4"/>
          <p:cNvSpPr/>
          <p:nvPr/>
        </p:nvSpPr>
        <p:spPr>
          <a:xfrm>
            <a:off x="3279495" y="1821180"/>
            <a:ext cx="201168" cy="152400"/>
          </a:xfrm>
          <a:prstGeom prst="rightArrow">
            <a:avLst/>
          </a:prstGeom>
          <a:solidFill>
            <a:srgbClr val="A8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descr="Paso del flujo: Ajuste de 3 modelos (ajustar_todos_los_modelos)"/>
          <p:cNvSpPr/>
          <p:nvPr/>
        </p:nvSpPr>
        <p:spPr>
          <a:xfrm>
            <a:off x="3480663" y="1417320"/>
            <a:ext cx="2514600" cy="960120"/>
          </a:xfrm>
          <a:prstGeom prst="roundRect">
            <a:avLst/>
          </a:prstGeom>
          <a:solidFill>
            <a:srgbClr val="F1ECE3"/>
          </a:solidFill>
          <a:ln w="15875">
            <a:solidFill>
              <a:srgbClr val="A8432B"/>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a:lstStyle/>
          <a:p>
            <a:pPr algn="ctr"/>
            <a:r>
              <a:rPr b="1" sz="1400">
                <a:solidFill>
                  <a:srgbClr val="201C18"/>
                </a:solidFill>
                <a:latin typeface="Calibri"/>
              </a:rPr>
              <a:t>Ajuste de 3 modelos</a:t>
            </a:r>
          </a:p>
          <a:p>
            <a:pPr algn="ctr"/>
            <a:r>
              <a:rPr sz="1050">
                <a:solidFill>
                  <a:srgbClr val="A8432B"/>
                </a:solidFill>
                <a:latin typeface="Consolas"/>
              </a:rPr>
              <a:t>ajustar_todos_los_modelos</a:t>
            </a:r>
          </a:p>
        </p:txBody>
      </p:sp>
      <p:sp>
        <p:nvSpPr>
          <p:cNvPr id="7" name="Right Arrow 6"/>
          <p:cNvSpPr/>
          <p:nvPr/>
        </p:nvSpPr>
        <p:spPr>
          <a:xfrm>
            <a:off x="5995263" y="1821180"/>
            <a:ext cx="201168" cy="152400"/>
          </a:xfrm>
          <a:prstGeom prst="rightArrow">
            <a:avLst/>
          </a:prstGeom>
          <a:solidFill>
            <a:srgbClr val="A8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descr="Paso del flujo: Métricas y estadística (calcular_tabla_modelo /&#10;calcular_efecto_micorriza)"/>
          <p:cNvSpPr/>
          <p:nvPr/>
        </p:nvSpPr>
        <p:spPr>
          <a:xfrm>
            <a:off x="6196431" y="1417320"/>
            <a:ext cx="2514600" cy="960120"/>
          </a:xfrm>
          <a:prstGeom prst="roundRect">
            <a:avLst/>
          </a:prstGeom>
          <a:solidFill>
            <a:srgbClr val="F1ECE3"/>
          </a:solidFill>
          <a:ln w="15875">
            <a:solidFill>
              <a:srgbClr val="A8432B"/>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a:lstStyle/>
          <a:p>
            <a:pPr algn="ctr"/>
            <a:r>
              <a:rPr b="1" sz="1400">
                <a:solidFill>
                  <a:srgbClr val="201C18"/>
                </a:solidFill>
                <a:latin typeface="Calibri"/>
              </a:rPr>
              <a:t>Métricas y estadística</a:t>
            </a:r>
          </a:p>
          <a:p>
            <a:pPr algn="ctr"/>
            <a:r>
              <a:rPr sz="1050">
                <a:solidFill>
                  <a:srgbClr val="A8432B"/>
                </a:solidFill>
                <a:latin typeface="Consolas"/>
              </a:rPr>
              <a:t>calcular_tabla_modelo /
calcular_efecto_micorriza</a:t>
            </a:r>
          </a:p>
        </p:txBody>
      </p:sp>
      <p:sp>
        <p:nvSpPr>
          <p:cNvPr id="9" name="Right Arrow 8"/>
          <p:cNvSpPr/>
          <p:nvPr/>
        </p:nvSpPr>
        <p:spPr>
          <a:xfrm>
            <a:off x="8711031" y="1821180"/>
            <a:ext cx="201168" cy="152400"/>
          </a:xfrm>
          <a:prstGeom prst="rightArrow">
            <a:avLst/>
          </a:prstGeom>
          <a:solidFill>
            <a:srgbClr val="A8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descr="Paso del flujo: Gráficas y reporte (fig_curvas_publicacion /&#10;ReportePDF)"/>
          <p:cNvSpPr/>
          <p:nvPr/>
        </p:nvSpPr>
        <p:spPr>
          <a:xfrm>
            <a:off x="8912199" y="1417320"/>
            <a:ext cx="2514600" cy="960120"/>
          </a:xfrm>
          <a:prstGeom prst="roundRect">
            <a:avLst/>
          </a:prstGeom>
          <a:solidFill>
            <a:srgbClr val="F1ECE3"/>
          </a:solidFill>
          <a:ln w="15875">
            <a:solidFill>
              <a:srgbClr val="A8432B"/>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a:lstStyle/>
          <a:p>
            <a:pPr algn="ctr"/>
            <a:r>
              <a:rPr b="1" sz="1400">
                <a:solidFill>
                  <a:srgbClr val="201C18"/>
                </a:solidFill>
                <a:latin typeface="Calibri"/>
              </a:rPr>
              <a:t>Gráficas y reporte</a:t>
            </a:r>
          </a:p>
          <a:p>
            <a:pPr algn="ctr"/>
            <a:r>
              <a:rPr sz="1050">
                <a:solidFill>
                  <a:srgbClr val="A8432B"/>
                </a:solidFill>
                <a:latin typeface="Consolas"/>
              </a:rPr>
              <a:t>fig_curvas_publicacion /
ReportePDF</a:t>
            </a:r>
          </a:p>
        </p:txBody>
      </p:sp>
      <p:sp>
        <p:nvSpPr>
          <p:cNvPr id="11" name="Rectangle 10"/>
          <p:cNvSpPr/>
          <p:nvPr/>
        </p:nvSpPr>
        <p:spPr>
          <a:xfrm>
            <a:off x="3897547" y="2679192"/>
            <a:ext cx="4396601" cy="3282696"/>
          </a:xfrm>
          <a:prstGeom prst="rect">
            <a:avLst/>
          </a:prstGeom>
          <a:solidFill>
            <a:srgbClr val="F1ECE3"/>
          </a:solidFill>
          <a:ln w="9525">
            <a:solidFill>
              <a:srgbClr val="E4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ptura de la app Coffea IA mostrando las curvas de altura ajustadas con datos reales"/>
          <p:cNvPicPr>
            <a:picLocks noChangeAspect="1"/>
          </p:cNvPicPr>
          <p:nvPr/>
        </p:nvPicPr>
        <p:blipFill>
          <a:blip r:embed="rId2"/>
          <a:stretch>
            <a:fillRect/>
          </a:stretch>
        </p:blipFill>
        <p:spPr>
          <a:xfrm>
            <a:off x="4007275" y="2788920"/>
            <a:ext cx="4177145" cy="3063240"/>
          </a:xfrm>
          <a:prstGeom prst="rect">
            <a:avLst/>
          </a:prstGeom>
        </p:spPr>
      </p:pic>
      <p:sp>
        <p:nvSpPr>
          <p:cNvPr id="13" name="TextBox 12"/>
          <p:cNvSpPr txBox="1"/>
          <p:nvPr/>
        </p:nvSpPr>
        <p:spPr>
          <a:xfrm>
            <a:off x="548640" y="6473952"/>
            <a:ext cx="2743200" cy="274320"/>
          </a:xfrm>
          <a:prstGeom prst="rect">
            <a:avLst/>
          </a:prstGeom>
          <a:noFill/>
        </p:spPr>
        <p:txBody>
          <a:bodyPr wrap="square" anchor="t">
            <a:spAutoFit/>
          </a:bodyPr>
          <a:lstStyle/>
          <a:p>
            <a:pPr algn="l">
              <a:lnSpc>
                <a:spcPct val="115000"/>
              </a:lnSpc>
            </a:pPr>
            <a:r>
              <a:rPr sz="1200" b="0">
                <a:solidFill>
                  <a:srgbClr val="8A8277"/>
                </a:solidFill>
                <a:latin typeface="Calibri"/>
              </a:rPr>
              <a:t>Coffea IA</a:t>
            </a:r>
          </a:p>
        </p:txBody>
      </p:sp>
      <p:sp>
        <p:nvSpPr>
          <p:cNvPr id="14" name="TextBox 13"/>
          <p:cNvSpPr txBox="1"/>
          <p:nvPr/>
        </p:nvSpPr>
        <p:spPr>
          <a:xfrm>
            <a:off x="10545775" y="6473952"/>
            <a:ext cx="1097280" cy="274320"/>
          </a:xfrm>
          <a:prstGeom prst="rect">
            <a:avLst/>
          </a:prstGeom>
          <a:noFill/>
        </p:spPr>
        <p:txBody>
          <a:bodyPr wrap="square" anchor="t">
            <a:spAutoFit/>
          </a:bodyPr>
          <a:lstStyle/>
          <a:p>
            <a:pPr algn="r">
              <a:lnSpc>
                <a:spcPct val="115000"/>
              </a:lnSpc>
            </a:pPr>
            <a:r>
              <a:rPr sz="1200" b="0">
                <a:solidFill>
                  <a:srgbClr val="8A8277"/>
                </a:solidFill>
                <a:latin typeface="Calibri"/>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A8432B"/>
        </a:solidFill>
        <a:effectLst/>
      </p:bgPr>
    </p:bg>
    <p:spTree>
      <p:nvGrpSpPr>
        <p:cNvPr id="1" name=""/>
        <p:cNvGrpSpPr/>
        <p:nvPr/>
      </p:nvGrpSpPr>
      <p:grpSpPr/>
      <p:sp>
        <p:nvSpPr>
          <p:cNvPr id="2" name="TextBox 1"/>
          <p:cNvSpPr txBox="1"/>
          <p:nvPr/>
        </p:nvSpPr>
        <p:spPr>
          <a:xfrm>
            <a:off x="548640" y="457200"/>
            <a:ext cx="11094415" cy="960120"/>
          </a:xfrm>
          <a:prstGeom prst="rect">
            <a:avLst/>
          </a:prstGeom>
          <a:noFill/>
        </p:spPr>
        <p:txBody>
          <a:bodyPr wrap="square" anchor="t">
            <a:spAutoFit/>
          </a:bodyPr>
          <a:lstStyle/>
          <a:p>
            <a:pPr algn="l">
              <a:lnSpc>
                <a:spcPct val="115000"/>
              </a:lnSpc>
            </a:pPr>
            <a:r>
              <a:rPr sz="2800" b="1">
                <a:solidFill>
                  <a:srgbClr val="F1ECE3"/>
                </a:solidFill>
                <a:latin typeface="Georgia"/>
              </a:rPr>
              <a:t>Resultado 1: bondad de ajuste por modelo</a:t>
            </a:r>
          </a:p>
        </p:txBody>
      </p:sp>
      <p:sp>
        <p:nvSpPr>
          <p:cNvPr id="3" name="Rectangle 2"/>
          <p:cNvSpPr/>
          <p:nvPr/>
        </p:nvSpPr>
        <p:spPr>
          <a:xfrm>
            <a:off x="548640" y="1234440"/>
            <a:ext cx="822960" cy="40640"/>
          </a:xfrm>
          <a:prstGeom prst="rect">
            <a:avLst/>
          </a:prstGeom>
          <a:solidFill>
            <a:srgbClr val="F1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48812" y="1353312"/>
            <a:ext cx="5949095" cy="5065776"/>
          </a:xfrm>
          <a:prstGeom prst="rect">
            <a:avLst/>
          </a:prstGeom>
          <a:solidFill>
            <a:srgbClr val="F1ECE3"/>
          </a:solidFill>
          <a:ln w="9525">
            <a:solidFill>
              <a:srgbClr val="E4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2 de Exponencial, Logistico y Gompertz por variable y grupo, con barras vacias donde no convergio"/>
          <p:cNvPicPr>
            <a:picLocks noChangeAspect="1"/>
          </p:cNvPicPr>
          <p:nvPr/>
        </p:nvPicPr>
        <p:blipFill>
          <a:blip r:embed="rId2"/>
          <a:stretch>
            <a:fillRect/>
          </a:stretch>
        </p:blipFill>
        <p:spPr>
          <a:xfrm>
            <a:off x="1158540" y="1463040"/>
            <a:ext cx="5729639" cy="4846320"/>
          </a:xfrm>
          <a:prstGeom prst="rect">
            <a:avLst/>
          </a:prstGeom>
        </p:spPr>
      </p:pic>
      <p:sp>
        <p:nvSpPr>
          <p:cNvPr id="6" name="TextBox 5"/>
          <p:cNvSpPr txBox="1"/>
          <p:nvPr/>
        </p:nvSpPr>
        <p:spPr>
          <a:xfrm>
            <a:off x="7818120" y="1737360"/>
            <a:ext cx="3794760" cy="4114800"/>
          </a:xfrm>
          <a:prstGeom prst="rect">
            <a:avLst/>
          </a:prstGeom>
          <a:noFill/>
        </p:spPr>
        <p:txBody>
          <a:bodyPr wrap="square">
            <a:spAutoFit/>
          </a:bodyPr>
          <a:lstStyle/>
          <a:p>
            <a:pPr>
              <a:lnSpc>
                <a:spcPct val="118000"/>
              </a:lnSpc>
              <a:spcBef>
                <a:spcPts val="0"/>
              </a:spcBef>
            </a:pPr>
            <a:r>
              <a:rPr sz="1700">
                <a:solidFill>
                  <a:srgbClr val="F1ECE3"/>
                </a:solidFill>
                <a:latin typeface="Calibri"/>
              </a:rPr>
              <a:t>—  R² entre 0.876 y 0.997 en los modelos que convergen.</a:t>
            </a:r>
          </a:p>
          <a:p>
            <a:pPr>
              <a:lnSpc>
                <a:spcPct val="118000"/>
              </a:lnSpc>
              <a:spcBef>
                <a:spcPts val="1000"/>
              </a:spcBef>
            </a:pPr>
            <a:r>
              <a:rPr sz="1700">
                <a:solidFill>
                  <a:srgbClr val="F1ECE3"/>
                </a:solidFill>
                <a:latin typeface="Calibri"/>
              </a:rPr>
              <a:t>—  Altura: gana Exponencial o Logístico según el grupo.</a:t>
            </a:r>
          </a:p>
          <a:p>
            <a:pPr>
              <a:lnSpc>
                <a:spcPct val="118000"/>
              </a:lnSpc>
              <a:spcBef>
                <a:spcPts val="1000"/>
              </a:spcBef>
            </a:pPr>
            <a:r>
              <a:rPr sz="1700">
                <a:solidFill>
                  <a:srgbClr val="F1ECE3"/>
                </a:solidFill>
                <a:latin typeface="Calibri"/>
              </a:rPr>
              <a:t>—  Área foliar: gana Gompertz o Exponencial según el grupo.</a:t>
            </a:r>
          </a:p>
          <a:p>
            <a:pPr>
              <a:lnSpc>
                <a:spcPct val="118000"/>
              </a:lnSpc>
              <a:spcBef>
                <a:spcPts val="1000"/>
              </a:spcBef>
            </a:pPr>
            <a:r>
              <a:rPr sz="1700">
                <a:solidFill>
                  <a:srgbClr val="F1ECE3"/>
                </a:solidFill>
                <a:latin typeface="Calibri"/>
              </a:rPr>
              <a:t>—  Biomasa y hojas: Logístico es el mejor en ambos grupos.</a:t>
            </a:r>
          </a:p>
        </p:txBody>
      </p:sp>
      <p:sp>
        <p:nvSpPr>
          <p:cNvPr id="7" name="TextBox 6"/>
          <p:cNvSpPr txBox="1"/>
          <p:nvPr/>
        </p:nvSpPr>
        <p:spPr>
          <a:xfrm>
            <a:off x="548640" y="6473952"/>
            <a:ext cx="2743200" cy="274320"/>
          </a:xfrm>
          <a:prstGeom prst="rect">
            <a:avLst/>
          </a:prstGeom>
          <a:noFill/>
        </p:spPr>
        <p:txBody>
          <a:bodyPr wrap="square" anchor="t">
            <a:spAutoFit/>
          </a:bodyPr>
          <a:lstStyle/>
          <a:p>
            <a:pPr algn="l">
              <a:lnSpc>
                <a:spcPct val="115000"/>
              </a:lnSpc>
            </a:pPr>
            <a:r>
              <a:rPr sz="1200" b="0">
                <a:solidFill>
                  <a:srgbClr val="F1ECE3"/>
                </a:solidFill>
                <a:latin typeface="Calibri"/>
              </a:rPr>
              <a:t>Coffea IA</a:t>
            </a:r>
          </a:p>
        </p:txBody>
      </p:sp>
      <p:sp>
        <p:nvSpPr>
          <p:cNvPr id="8" name="TextBox 7"/>
          <p:cNvSpPr txBox="1"/>
          <p:nvPr/>
        </p:nvSpPr>
        <p:spPr>
          <a:xfrm>
            <a:off x="10545775" y="6473952"/>
            <a:ext cx="1097280" cy="274320"/>
          </a:xfrm>
          <a:prstGeom prst="rect">
            <a:avLst/>
          </a:prstGeom>
          <a:noFill/>
        </p:spPr>
        <p:txBody>
          <a:bodyPr wrap="square" anchor="t">
            <a:spAutoFit/>
          </a:bodyPr>
          <a:lstStyle/>
          <a:p>
            <a:pPr algn="r">
              <a:lnSpc>
                <a:spcPct val="115000"/>
              </a:lnSpc>
            </a:pPr>
            <a:r>
              <a:rPr sz="1200" b="0">
                <a:solidFill>
                  <a:srgbClr val="F1ECE3"/>
                </a:solidFill>
                <a:latin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960120"/>
          </a:xfrm>
          <a:prstGeom prst="rect">
            <a:avLst/>
          </a:prstGeom>
          <a:noFill/>
        </p:spPr>
        <p:txBody>
          <a:bodyPr wrap="square" anchor="t">
            <a:spAutoFit/>
          </a:bodyPr>
          <a:lstStyle/>
          <a:p>
            <a:pPr algn="l">
              <a:lnSpc>
                <a:spcPct val="115000"/>
              </a:lnSpc>
            </a:pPr>
            <a:r>
              <a:rPr sz="3000" b="1">
                <a:solidFill>
                  <a:srgbClr val="201C18"/>
                </a:solidFill>
                <a:latin typeface="Georgia"/>
              </a:rPr>
              <a:t>Curvas de crecimiento</a:t>
            </a:r>
          </a:p>
        </p:txBody>
      </p:sp>
      <p:sp>
        <p:nvSpPr>
          <p:cNvPr id="3" name="Rectangle 2"/>
          <p:cNvSpPr/>
          <p:nvPr/>
        </p:nvSpPr>
        <p:spPr>
          <a:xfrm>
            <a:off x="548640" y="1188720"/>
            <a:ext cx="822960" cy="40640"/>
          </a:xfrm>
          <a:prstGeom prst="rect">
            <a:avLst/>
          </a:prstGeom>
          <a:solidFill>
            <a:srgbClr val="A8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575" y="1261872"/>
            <a:ext cx="7618545" cy="4700016"/>
          </a:xfrm>
          <a:prstGeom prst="rect">
            <a:avLst/>
          </a:prstGeom>
          <a:solidFill>
            <a:srgbClr val="F1ECE3"/>
          </a:solidFill>
          <a:ln w="9525">
            <a:solidFill>
              <a:srgbClr val="E4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urvas de area foliar ajustadas para -M y +M con replicas observadas y banda de confianza"/>
          <p:cNvPicPr>
            <a:picLocks noChangeAspect="1"/>
          </p:cNvPicPr>
          <p:nvPr/>
        </p:nvPicPr>
        <p:blipFill>
          <a:blip r:embed="rId2"/>
          <a:stretch>
            <a:fillRect/>
          </a:stretch>
        </p:blipFill>
        <p:spPr>
          <a:xfrm>
            <a:off x="2396303" y="1371600"/>
            <a:ext cx="7399089" cy="4480560"/>
          </a:xfrm>
          <a:prstGeom prst="rect">
            <a:avLst/>
          </a:prstGeom>
        </p:spPr>
      </p:pic>
      <p:sp>
        <p:nvSpPr>
          <p:cNvPr id="6" name="TextBox 5"/>
          <p:cNvSpPr txBox="1"/>
          <p:nvPr/>
        </p:nvSpPr>
        <p:spPr>
          <a:xfrm>
            <a:off x="548640" y="5989320"/>
            <a:ext cx="11094415" cy="457200"/>
          </a:xfrm>
          <a:prstGeom prst="rect">
            <a:avLst/>
          </a:prstGeom>
          <a:noFill/>
        </p:spPr>
        <p:txBody>
          <a:bodyPr wrap="square" anchor="t">
            <a:spAutoFit/>
          </a:bodyPr>
          <a:lstStyle/>
          <a:p>
            <a:pPr algn="l">
              <a:lnSpc>
                <a:spcPct val="115000"/>
              </a:lnSpc>
            </a:pPr>
            <a:r>
              <a:rPr sz="1600" b="1">
                <a:solidFill>
                  <a:srgbClr val="A8432B"/>
                </a:solidFill>
                <a:latin typeface="Calibri"/>
              </a:rPr>
              <a:t>Lectura: el área foliar de +M se separa de −M desde ~84 ddt.</a:t>
            </a:r>
          </a:p>
        </p:txBody>
      </p:sp>
      <p:sp>
        <p:nvSpPr>
          <p:cNvPr id="7" name="TextBox 6"/>
          <p:cNvSpPr txBox="1"/>
          <p:nvPr/>
        </p:nvSpPr>
        <p:spPr>
          <a:xfrm>
            <a:off x="548640" y="6473952"/>
            <a:ext cx="2743200" cy="274320"/>
          </a:xfrm>
          <a:prstGeom prst="rect">
            <a:avLst/>
          </a:prstGeom>
          <a:noFill/>
        </p:spPr>
        <p:txBody>
          <a:bodyPr wrap="square" anchor="t">
            <a:spAutoFit/>
          </a:bodyPr>
          <a:lstStyle/>
          <a:p>
            <a:pPr algn="l">
              <a:lnSpc>
                <a:spcPct val="115000"/>
              </a:lnSpc>
            </a:pPr>
            <a:r>
              <a:rPr sz="1200" b="0">
                <a:solidFill>
                  <a:srgbClr val="8A8277"/>
                </a:solidFill>
                <a:latin typeface="Calibri"/>
              </a:rPr>
              <a:t>Coffea IA</a:t>
            </a:r>
          </a:p>
        </p:txBody>
      </p:sp>
      <p:sp>
        <p:nvSpPr>
          <p:cNvPr id="8" name="TextBox 7"/>
          <p:cNvSpPr txBox="1"/>
          <p:nvPr/>
        </p:nvSpPr>
        <p:spPr>
          <a:xfrm>
            <a:off x="10545775" y="6473952"/>
            <a:ext cx="1097280" cy="274320"/>
          </a:xfrm>
          <a:prstGeom prst="rect">
            <a:avLst/>
          </a:prstGeom>
          <a:noFill/>
        </p:spPr>
        <p:txBody>
          <a:bodyPr wrap="square" anchor="t">
            <a:spAutoFit/>
          </a:bodyPr>
          <a:lstStyle/>
          <a:p>
            <a:pPr algn="r">
              <a:lnSpc>
                <a:spcPct val="115000"/>
              </a:lnSpc>
            </a:pPr>
            <a:r>
              <a:rPr sz="1200" b="0">
                <a:solidFill>
                  <a:srgbClr val="8A8277"/>
                </a:solidFill>
                <a:latin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960120"/>
          </a:xfrm>
          <a:prstGeom prst="rect">
            <a:avLst/>
          </a:prstGeom>
          <a:noFill/>
        </p:spPr>
        <p:txBody>
          <a:bodyPr wrap="square" anchor="t">
            <a:spAutoFit/>
          </a:bodyPr>
          <a:lstStyle/>
          <a:p>
            <a:pPr algn="l">
              <a:lnSpc>
                <a:spcPct val="115000"/>
              </a:lnSpc>
            </a:pPr>
            <a:r>
              <a:rPr sz="2800" b="1">
                <a:solidFill>
                  <a:srgbClr val="201C18"/>
                </a:solidFill>
                <a:latin typeface="Georgia"/>
              </a:rPr>
              <a:t>Resultado 2: efecto de la inoculación</a:t>
            </a:r>
          </a:p>
        </p:txBody>
      </p:sp>
      <p:sp>
        <p:nvSpPr>
          <p:cNvPr id="3" name="Rectangle 2"/>
          <p:cNvSpPr/>
          <p:nvPr/>
        </p:nvSpPr>
        <p:spPr>
          <a:xfrm>
            <a:off x="548640" y="1188720"/>
            <a:ext cx="822960" cy="40640"/>
          </a:xfrm>
          <a:prstGeom prst="rect">
            <a:avLst/>
          </a:prstGeom>
          <a:solidFill>
            <a:srgbClr val="A8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7613" y="1216152"/>
            <a:ext cx="6731574" cy="4379976"/>
          </a:xfrm>
          <a:prstGeom prst="rect">
            <a:avLst/>
          </a:prstGeom>
          <a:solidFill>
            <a:srgbClr val="F1ECE3"/>
          </a:solidFill>
          <a:ln w="9525">
            <a:solidFill>
              <a:srgbClr val="E4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ea foliar por dia, media mas menos DE, con significancia de la prueba t de Welch"/>
          <p:cNvPicPr>
            <a:picLocks noChangeAspect="1"/>
          </p:cNvPicPr>
          <p:nvPr/>
        </p:nvPicPr>
        <p:blipFill>
          <a:blip r:embed="rId2"/>
          <a:stretch>
            <a:fillRect/>
          </a:stretch>
        </p:blipFill>
        <p:spPr>
          <a:xfrm>
            <a:off x="1087341" y="1325880"/>
            <a:ext cx="6512118" cy="4160520"/>
          </a:xfrm>
          <a:prstGeom prst="rect">
            <a:avLst/>
          </a:prstGeom>
        </p:spPr>
      </p:pic>
      <p:sp>
        <p:nvSpPr>
          <p:cNvPr id="6" name="TextBox 5"/>
          <p:cNvSpPr txBox="1"/>
          <p:nvPr/>
        </p:nvSpPr>
        <p:spPr>
          <a:xfrm>
            <a:off x="8732520" y="1920240"/>
            <a:ext cx="2880360" cy="914400"/>
          </a:xfrm>
          <a:prstGeom prst="rect">
            <a:avLst/>
          </a:prstGeom>
          <a:noFill/>
        </p:spPr>
        <p:txBody>
          <a:bodyPr wrap="square" anchor="t">
            <a:spAutoFit/>
          </a:bodyPr>
          <a:lstStyle/>
          <a:p>
            <a:pPr algn="ctr">
              <a:lnSpc>
                <a:spcPct val="115000"/>
              </a:lnSpc>
            </a:pPr>
            <a:r>
              <a:rPr sz="5400" b="1">
                <a:solidFill>
                  <a:srgbClr val="A8432B"/>
                </a:solidFill>
                <a:latin typeface="Georgia"/>
              </a:rPr>
              <a:t>+97.1%</a:t>
            </a:r>
          </a:p>
        </p:txBody>
      </p:sp>
      <p:sp>
        <p:nvSpPr>
          <p:cNvPr id="7" name="TextBox 6"/>
          <p:cNvSpPr txBox="1"/>
          <p:nvPr/>
        </p:nvSpPr>
        <p:spPr>
          <a:xfrm>
            <a:off x="8732520" y="2788920"/>
            <a:ext cx="2880360" cy="457200"/>
          </a:xfrm>
          <a:prstGeom prst="rect">
            <a:avLst/>
          </a:prstGeom>
          <a:noFill/>
        </p:spPr>
        <p:txBody>
          <a:bodyPr wrap="square" anchor="t">
            <a:spAutoFit/>
          </a:bodyPr>
          <a:lstStyle/>
          <a:p>
            <a:pPr algn="ctr">
              <a:lnSpc>
                <a:spcPct val="115000"/>
              </a:lnSpc>
            </a:pPr>
            <a:r>
              <a:rPr sz="1500" b="0">
                <a:solidFill>
                  <a:srgbClr val="201C18"/>
                </a:solidFill>
                <a:latin typeface="Calibri"/>
              </a:rPr>
              <a:t>Área foliar a 112 ddt (+M vs −M)</a:t>
            </a:r>
          </a:p>
        </p:txBody>
      </p:sp>
      <p:sp>
        <p:nvSpPr>
          <p:cNvPr id="8" name="TextBox 7"/>
          <p:cNvSpPr txBox="1"/>
          <p:nvPr/>
        </p:nvSpPr>
        <p:spPr>
          <a:xfrm>
            <a:off x="8366760" y="3246120"/>
            <a:ext cx="3566160" cy="2377440"/>
          </a:xfrm>
          <a:prstGeom prst="rect">
            <a:avLst/>
          </a:prstGeom>
          <a:noFill/>
        </p:spPr>
        <p:txBody>
          <a:bodyPr wrap="square">
            <a:spAutoFit/>
          </a:bodyPr>
          <a:lstStyle/>
          <a:p>
            <a:pPr>
              <a:lnSpc>
                <a:spcPct val="118000"/>
              </a:lnSpc>
              <a:spcBef>
                <a:spcPts val="0"/>
              </a:spcBef>
            </a:pPr>
            <a:r>
              <a:rPr sz="1500">
                <a:solidFill>
                  <a:srgbClr val="201C18"/>
                </a:solidFill>
                <a:latin typeface="Calibri"/>
              </a:rPr>
              <a:t>—  Biomasa: significativa en 3/4 días (+71.7% a 112 ddt).</a:t>
            </a:r>
          </a:p>
          <a:p>
            <a:pPr>
              <a:lnSpc>
                <a:spcPct val="118000"/>
              </a:lnSpc>
              <a:spcBef>
                <a:spcPts val="1000"/>
              </a:spcBef>
            </a:pPr>
            <a:r>
              <a:rPr sz="1500">
                <a:solidFill>
                  <a:srgbClr val="201C18"/>
                </a:solidFill>
                <a:latin typeface="Calibri"/>
              </a:rPr>
              <a:t>—  Altura y hojas: mayormente no significativas.</a:t>
            </a:r>
          </a:p>
        </p:txBody>
      </p:sp>
      <p:sp>
        <p:nvSpPr>
          <p:cNvPr id="9" name="TextBox 8"/>
          <p:cNvSpPr txBox="1"/>
          <p:nvPr/>
        </p:nvSpPr>
        <p:spPr>
          <a:xfrm>
            <a:off x="548640" y="5806440"/>
            <a:ext cx="11094415" cy="640080"/>
          </a:xfrm>
          <a:prstGeom prst="rect">
            <a:avLst/>
          </a:prstGeom>
          <a:noFill/>
        </p:spPr>
        <p:txBody>
          <a:bodyPr wrap="square" anchor="t">
            <a:spAutoFit/>
          </a:bodyPr>
          <a:lstStyle/>
          <a:p>
            <a:pPr algn="l">
              <a:lnSpc>
                <a:spcPct val="115000"/>
              </a:lnSpc>
            </a:pPr>
            <a:r>
              <a:rPr sz="1400" b="0">
                <a:solidFill>
                  <a:srgbClr val="6B6359"/>
                </a:solidFill>
                <a:latin typeface="Calibri"/>
              </a:rPr>
              <a:t>Recuerda: réplicas sintéticas — ilustra la metodología, no es evidencia experimental nueva.</a:t>
            </a:r>
          </a:p>
        </p:txBody>
      </p:sp>
      <p:sp>
        <p:nvSpPr>
          <p:cNvPr id="10" name="TextBox 9"/>
          <p:cNvSpPr txBox="1"/>
          <p:nvPr/>
        </p:nvSpPr>
        <p:spPr>
          <a:xfrm>
            <a:off x="548640" y="6473952"/>
            <a:ext cx="2743200" cy="274320"/>
          </a:xfrm>
          <a:prstGeom prst="rect">
            <a:avLst/>
          </a:prstGeom>
          <a:noFill/>
        </p:spPr>
        <p:txBody>
          <a:bodyPr wrap="square" anchor="t">
            <a:spAutoFit/>
          </a:bodyPr>
          <a:lstStyle/>
          <a:p>
            <a:pPr algn="l">
              <a:lnSpc>
                <a:spcPct val="115000"/>
              </a:lnSpc>
            </a:pPr>
            <a:r>
              <a:rPr sz="1200" b="0">
                <a:solidFill>
                  <a:srgbClr val="8A8277"/>
                </a:solidFill>
                <a:latin typeface="Calibri"/>
              </a:rPr>
              <a:t>Coffea IA</a:t>
            </a:r>
          </a:p>
        </p:txBody>
      </p:sp>
      <p:sp>
        <p:nvSpPr>
          <p:cNvPr id="11" name="TextBox 10"/>
          <p:cNvSpPr txBox="1"/>
          <p:nvPr/>
        </p:nvSpPr>
        <p:spPr>
          <a:xfrm>
            <a:off x="10545775" y="6473952"/>
            <a:ext cx="1097280" cy="274320"/>
          </a:xfrm>
          <a:prstGeom prst="rect">
            <a:avLst/>
          </a:prstGeom>
          <a:noFill/>
        </p:spPr>
        <p:txBody>
          <a:bodyPr wrap="square" anchor="t">
            <a:spAutoFit/>
          </a:bodyPr>
          <a:lstStyle/>
          <a:p>
            <a:pPr algn="r">
              <a:lnSpc>
                <a:spcPct val="115000"/>
              </a:lnSpc>
            </a:pPr>
            <a:r>
              <a:rPr sz="1200" b="0">
                <a:solidFill>
                  <a:srgbClr val="8A8277"/>
                </a:solidFill>
                <a:latin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960120"/>
          </a:xfrm>
          <a:prstGeom prst="rect">
            <a:avLst/>
          </a:prstGeom>
          <a:noFill/>
        </p:spPr>
        <p:txBody>
          <a:bodyPr wrap="square" anchor="t">
            <a:spAutoFit/>
          </a:bodyPr>
          <a:lstStyle/>
          <a:p>
            <a:pPr algn="l">
              <a:lnSpc>
                <a:spcPct val="115000"/>
              </a:lnSpc>
            </a:pPr>
            <a:r>
              <a:rPr sz="2800" b="1">
                <a:solidFill>
                  <a:srgbClr val="201C18"/>
                </a:solidFill>
                <a:latin typeface="Georgia"/>
              </a:rPr>
              <a:t>Hallazgo: cuándo no confiar en K</a:t>
            </a:r>
          </a:p>
        </p:txBody>
      </p:sp>
      <p:sp>
        <p:nvSpPr>
          <p:cNvPr id="3" name="Rectangle 2"/>
          <p:cNvSpPr/>
          <p:nvPr/>
        </p:nvSpPr>
        <p:spPr>
          <a:xfrm>
            <a:off x="548640" y="1188720"/>
            <a:ext cx="822960" cy="40640"/>
          </a:xfrm>
          <a:prstGeom prst="rect">
            <a:avLst/>
          </a:prstGeom>
          <a:solidFill>
            <a:srgbClr val="A8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3657600" cy="914400"/>
          </a:xfrm>
          <a:prstGeom prst="rect">
            <a:avLst/>
          </a:prstGeom>
          <a:noFill/>
        </p:spPr>
        <p:txBody>
          <a:bodyPr wrap="square" anchor="t">
            <a:spAutoFit/>
          </a:bodyPr>
          <a:lstStyle/>
          <a:p>
            <a:pPr algn="ctr">
              <a:lnSpc>
                <a:spcPct val="115000"/>
              </a:lnSpc>
            </a:pPr>
            <a:r>
              <a:rPr sz="5400" b="1">
                <a:solidFill>
                  <a:srgbClr val="A8432B"/>
                </a:solidFill>
                <a:latin typeface="Georgia"/>
              </a:rPr>
              <a:t>790 679.8</a:t>
            </a:r>
          </a:p>
        </p:txBody>
      </p:sp>
      <p:sp>
        <p:nvSpPr>
          <p:cNvPr id="5" name="TextBox 4"/>
          <p:cNvSpPr txBox="1"/>
          <p:nvPr/>
        </p:nvSpPr>
        <p:spPr>
          <a:xfrm>
            <a:off x="548640" y="2240280"/>
            <a:ext cx="3657600" cy="457200"/>
          </a:xfrm>
          <a:prstGeom prst="rect">
            <a:avLst/>
          </a:prstGeom>
          <a:noFill/>
        </p:spPr>
        <p:txBody>
          <a:bodyPr wrap="square" anchor="t">
            <a:spAutoFit/>
          </a:bodyPr>
          <a:lstStyle/>
          <a:p>
            <a:pPr algn="ctr">
              <a:lnSpc>
                <a:spcPct val="115000"/>
              </a:lnSpc>
            </a:pPr>
            <a:r>
              <a:rPr sz="1500" b="0">
                <a:solidFill>
                  <a:srgbClr val="201C18"/>
                </a:solidFill>
                <a:latin typeface="Calibri"/>
              </a:rPr>
              <a:t>K estimada en cm (Logístico, Altura, −M)</a:t>
            </a:r>
          </a:p>
        </p:txBody>
      </p:sp>
      <p:sp>
        <p:nvSpPr>
          <p:cNvPr id="6" name="TextBox 5"/>
          <p:cNvSpPr txBox="1"/>
          <p:nvPr/>
        </p:nvSpPr>
        <p:spPr>
          <a:xfrm>
            <a:off x="4480560" y="1371600"/>
            <a:ext cx="3657600" cy="914400"/>
          </a:xfrm>
          <a:prstGeom prst="rect">
            <a:avLst/>
          </a:prstGeom>
          <a:noFill/>
        </p:spPr>
        <p:txBody>
          <a:bodyPr wrap="square" anchor="t">
            <a:spAutoFit/>
          </a:bodyPr>
          <a:lstStyle/>
          <a:p>
            <a:pPr algn="ctr">
              <a:lnSpc>
                <a:spcPct val="115000"/>
              </a:lnSpc>
            </a:pPr>
            <a:r>
              <a:rPr sz="5400" b="1">
                <a:solidFill>
                  <a:srgbClr val="201C18"/>
                </a:solidFill>
                <a:latin typeface="Georgia"/>
              </a:rPr>
              <a:t>15.0</a:t>
            </a:r>
          </a:p>
        </p:txBody>
      </p:sp>
      <p:sp>
        <p:nvSpPr>
          <p:cNvPr id="7" name="TextBox 6"/>
          <p:cNvSpPr txBox="1"/>
          <p:nvPr/>
        </p:nvSpPr>
        <p:spPr>
          <a:xfrm>
            <a:off x="4480560" y="2240280"/>
            <a:ext cx="3657600" cy="457200"/>
          </a:xfrm>
          <a:prstGeom prst="rect">
            <a:avLst/>
          </a:prstGeom>
          <a:noFill/>
        </p:spPr>
        <p:txBody>
          <a:bodyPr wrap="square" anchor="t">
            <a:spAutoFit/>
          </a:bodyPr>
          <a:lstStyle/>
          <a:p>
            <a:pPr algn="ctr">
              <a:lnSpc>
                <a:spcPct val="115000"/>
              </a:lnSpc>
            </a:pPr>
            <a:r>
              <a:rPr sz="1500" b="0">
                <a:solidFill>
                  <a:srgbClr val="201C18"/>
                </a:solidFill>
                <a:latin typeface="Calibri"/>
              </a:rPr>
              <a:t>cm · máximo observado en ese grupo</a:t>
            </a:r>
          </a:p>
        </p:txBody>
      </p:sp>
      <p:sp>
        <p:nvSpPr>
          <p:cNvPr id="8" name="TextBox 7"/>
          <p:cNvSpPr txBox="1"/>
          <p:nvPr/>
        </p:nvSpPr>
        <p:spPr>
          <a:xfrm>
            <a:off x="548640" y="2880360"/>
            <a:ext cx="11094415" cy="3291840"/>
          </a:xfrm>
          <a:prstGeom prst="rect">
            <a:avLst/>
          </a:prstGeom>
          <a:noFill/>
        </p:spPr>
        <p:txBody>
          <a:bodyPr wrap="square">
            <a:spAutoFit/>
          </a:bodyPr>
          <a:lstStyle/>
          <a:p>
            <a:pPr>
              <a:lnSpc>
                <a:spcPct val="118000"/>
              </a:lnSpc>
              <a:spcBef>
                <a:spcPts val="0"/>
              </a:spcBef>
            </a:pPr>
            <a:r>
              <a:rPr sz="1900">
                <a:solidFill>
                  <a:srgbClr val="201C18"/>
                </a:solidFill>
                <a:latin typeface="Calibri"/>
              </a:rPr>
              <a:t>—  Con 4 puntos, Logístico/Gompertz a veces no identifican K.</a:t>
            </a:r>
          </a:p>
          <a:p>
            <a:pPr>
              <a:lnSpc>
                <a:spcPct val="118000"/>
              </a:lnSpc>
              <a:spcBef>
                <a:spcPts val="1000"/>
              </a:spcBef>
            </a:pPr>
            <a:r>
              <a:rPr sz="1900">
                <a:solidFill>
                  <a:srgbClr val="201C18"/>
                </a:solidFill>
                <a:latin typeface="Calibri"/>
              </a:rPr>
              <a:t>—  Criterio: convergencia + R²≥0.90 + K≤1.5×máx + Ti en rango.</a:t>
            </a:r>
          </a:p>
          <a:p>
            <a:pPr>
              <a:lnSpc>
                <a:spcPct val="118000"/>
              </a:lnSpc>
              <a:spcBef>
                <a:spcPts val="1000"/>
              </a:spcBef>
            </a:pPr>
            <a:r>
              <a:rPr sz="1900">
                <a:solidFill>
                  <a:srgbClr val="201C18"/>
                </a:solidFill>
                <a:latin typeface="Calibri"/>
              </a:rPr>
              <a:t>—  Si falla una condición: no se dibuja, se anota.</a:t>
            </a:r>
          </a:p>
        </p:txBody>
      </p:sp>
      <p:sp>
        <p:nvSpPr>
          <p:cNvPr id="9" name="TextBox 8"/>
          <p:cNvSpPr txBox="1"/>
          <p:nvPr/>
        </p:nvSpPr>
        <p:spPr>
          <a:xfrm>
            <a:off x="548640" y="6473952"/>
            <a:ext cx="2743200" cy="274320"/>
          </a:xfrm>
          <a:prstGeom prst="rect">
            <a:avLst/>
          </a:prstGeom>
          <a:noFill/>
        </p:spPr>
        <p:txBody>
          <a:bodyPr wrap="square" anchor="t">
            <a:spAutoFit/>
          </a:bodyPr>
          <a:lstStyle/>
          <a:p>
            <a:pPr algn="l">
              <a:lnSpc>
                <a:spcPct val="115000"/>
              </a:lnSpc>
            </a:pPr>
            <a:r>
              <a:rPr sz="1200" b="0">
                <a:solidFill>
                  <a:srgbClr val="8A8277"/>
                </a:solidFill>
                <a:latin typeface="Calibri"/>
              </a:rPr>
              <a:t>Coffea IA</a:t>
            </a:r>
          </a:p>
        </p:txBody>
      </p:sp>
      <p:sp>
        <p:nvSpPr>
          <p:cNvPr id="10" name="TextBox 9"/>
          <p:cNvSpPr txBox="1"/>
          <p:nvPr/>
        </p:nvSpPr>
        <p:spPr>
          <a:xfrm>
            <a:off x="10545775" y="6473952"/>
            <a:ext cx="1097280" cy="274320"/>
          </a:xfrm>
          <a:prstGeom prst="rect">
            <a:avLst/>
          </a:prstGeom>
          <a:noFill/>
        </p:spPr>
        <p:txBody>
          <a:bodyPr wrap="square" anchor="t">
            <a:spAutoFit/>
          </a:bodyPr>
          <a:lstStyle/>
          <a:p>
            <a:pPr algn="r">
              <a:lnSpc>
                <a:spcPct val="115000"/>
              </a:lnSpc>
            </a:pPr>
            <a:r>
              <a:rPr sz="1200" b="0">
                <a:solidFill>
                  <a:srgbClr val="8A8277"/>
                </a:solidFill>
                <a:latin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A8432B"/>
        </a:solidFill>
        <a:effectLst/>
      </p:bgPr>
    </p:bg>
    <p:spTree>
      <p:nvGrpSpPr>
        <p:cNvPr id="1" name=""/>
        <p:cNvGrpSpPr/>
        <p:nvPr/>
      </p:nvGrpSpPr>
      <p:grpSpPr/>
      <p:sp>
        <p:nvSpPr>
          <p:cNvPr id="2" name="TextBox 1"/>
          <p:cNvSpPr txBox="1"/>
          <p:nvPr/>
        </p:nvSpPr>
        <p:spPr>
          <a:xfrm>
            <a:off x="548640" y="914400"/>
            <a:ext cx="11094415" cy="960120"/>
          </a:xfrm>
          <a:prstGeom prst="rect">
            <a:avLst/>
          </a:prstGeom>
          <a:noFill/>
        </p:spPr>
        <p:txBody>
          <a:bodyPr wrap="square" anchor="t">
            <a:spAutoFit/>
          </a:bodyPr>
          <a:lstStyle/>
          <a:p>
            <a:pPr algn="l">
              <a:lnSpc>
                <a:spcPct val="115000"/>
              </a:lnSpc>
            </a:pPr>
            <a:r>
              <a:rPr sz="3200" b="1">
                <a:solidFill>
                  <a:srgbClr val="F1ECE3"/>
                </a:solidFill>
                <a:latin typeface="Georgia"/>
              </a:rPr>
              <a:t>Validación</a:t>
            </a:r>
          </a:p>
        </p:txBody>
      </p:sp>
      <p:sp>
        <p:nvSpPr>
          <p:cNvPr id="3" name="Rectangle 2"/>
          <p:cNvSpPr/>
          <p:nvPr/>
        </p:nvSpPr>
        <p:spPr>
          <a:xfrm>
            <a:off x="548640" y="1691640"/>
            <a:ext cx="822960" cy="40640"/>
          </a:xfrm>
          <a:prstGeom prst="rect">
            <a:avLst/>
          </a:prstGeom>
          <a:solidFill>
            <a:srgbClr val="F1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1094415" cy="2743200"/>
          </a:xfrm>
          <a:prstGeom prst="rect">
            <a:avLst/>
          </a:prstGeom>
          <a:noFill/>
        </p:spPr>
        <p:txBody>
          <a:bodyPr wrap="square">
            <a:spAutoFit/>
          </a:bodyPr>
          <a:lstStyle/>
          <a:p>
            <a:pPr>
              <a:lnSpc>
                <a:spcPct val="118000"/>
              </a:lnSpc>
              <a:spcBef>
                <a:spcPts val="0"/>
              </a:spcBef>
            </a:pPr>
            <a:r>
              <a:rPr sz="2100">
                <a:solidFill>
                  <a:srgbClr val="F1ECE3"/>
                </a:solidFill>
                <a:latin typeface="Calibri"/>
              </a:rPr>
              <a:t>—  Hecha: validación cruzada interna (hold-out 80/20) de las medias.</a:t>
            </a:r>
          </a:p>
          <a:p>
            <a:pPr>
              <a:lnSpc>
                <a:spcPct val="118000"/>
              </a:lnSpc>
              <a:spcBef>
                <a:spcPts val="1000"/>
              </a:spcBef>
            </a:pPr>
            <a:r>
              <a:rPr sz="2100">
                <a:solidFill>
                  <a:srgbClr val="F1ECE3"/>
                </a:solidFill>
                <a:latin typeface="Calibri"/>
              </a:rPr>
              <a:t>—  En curso: validación externa con datos independientes.</a:t>
            </a:r>
          </a:p>
          <a:p>
            <a:pPr>
              <a:lnSpc>
                <a:spcPct val="118000"/>
              </a:lnSpc>
              <a:spcBef>
                <a:spcPts val="1000"/>
              </a:spcBef>
            </a:pPr>
            <a:r>
              <a:rPr sz="2100">
                <a:solidFill>
                  <a:srgbClr val="F1ECE3"/>
                </a:solidFill>
                <a:latin typeface="Calibri"/>
              </a:rPr>
              <a:t>—  Aún no hay resultados externos que presentar.</a:t>
            </a:r>
          </a:p>
        </p:txBody>
      </p:sp>
      <p:sp>
        <p:nvSpPr>
          <p:cNvPr id="5" name="TextBox 4"/>
          <p:cNvSpPr txBox="1"/>
          <p:nvPr/>
        </p:nvSpPr>
        <p:spPr>
          <a:xfrm>
            <a:off x="548640" y="6473952"/>
            <a:ext cx="2743200" cy="274320"/>
          </a:xfrm>
          <a:prstGeom prst="rect">
            <a:avLst/>
          </a:prstGeom>
          <a:noFill/>
        </p:spPr>
        <p:txBody>
          <a:bodyPr wrap="square" anchor="t">
            <a:spAutoFit/>
          </a:bodyPr>
          <a:lstStyle/>
          <a:p>
            <a:pPr algn="l">
              <a:lnSpc>
                <a:spcPct val="115000"/>
              </a:lnSpc>
            </a:pPr>
            <a:r>
              <a:rPr sz="1200" b="0">
                <a:solidFill>
                  <a:srgbClr val="F1ECE3"/>
                </a:solidFill>
                <a:latin typeface="Calibri"/>
              </a:rPr>
              <a:t>Coffea IA</a:t>
            </a:r>
          </a:p>
        </p:txBody>
      </p:sp>
      <p:sp>
        <p:nvSpPr>
          <p:cNvPr id="6" name="TextBox 5"/>
          <p:cNvSpPr txBox="1"/>
          <p:nvPr/>
        </p:nvSpPr>
        <p:spPr>
          <a:xfrm>
            <a:off x="10545775" y="6473952"/>
            <a:ext cx="1097280" cy="274320"/>
          </a:xfrm>
          <a:prstGeom prst="rect">
            <a:avLst/>
          </a:prstGeom>
          <a:noFill/>
        </p:spPr>
        <p:txBody>
          <a:bodyPr wrap="square" anchor="t">
            <a:spAutoFit/>
          </a:bodyPr>
          <a:lstStyle/>
          <a:p>
            <a:pPr algn="r">
              <a:lnSpc>
                <a:spcPct val="115000"/>
              </a:lnSpc>
            </a:pPr>
            <a:r>
              <a:rPr sz="1200" b="0">
                <a:solidFill>
                  <a:srgbClr val="F1ECE3"/>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960120"/>
          </a:xfrm>
          <a:prstGeom prst="rect">
            <a:avLst/>
          </a:prstGeom>
          <a:noFill/>
        </p:spPr>
        <p:txBody>
          <a:bodyPr wrap="square" anchor="t">
            <a:spAutoFit/>
          </a:bodyPr>
          <a:lstStyle/>
          <a:p>
            <a:pPr algn="l">
              <a:lnSpc>
                <a:spcPct val="115000"/>
              </a:lnSpc>
            </a:pPr>
            <a:r>
              <a:rPr sz="3200" b="1">
                <a:solidFill>
                  <a:srgbClr val="201C18"/>
                </a:solidFill>
                <a:latin typeface="Georgia"/>
              </a:rPr>
              <a:t>Limitaciones honestas</a:t>
            </a:r>
          </a:p>
        </p:txBody>
      </p:sp>
      <p:sp>
        <p:nvSpPr>
          <p:cNvPr id="3" name="Rectangle 2"/>
          <p:cNvSpPr/>
          <p:nvPr/>
        </p:nvSpPr>
        <p:spPr>
          <a:xfrm>
            <a:off x="548640" y="1280160"/>
            <a:ext cx="822960" cy="40640"/>
          </a:xfrm>
          <a:prstGeom prst="rect">
            <a:avLst/>
          </a:prstGeom>
          <a:solidFill>
            <a:srgbClr val="A8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94415" cy="3200400"/>
          </a:xfrm>
          <a:prstGeom prst="rect">
            <a:avLst/>
          </a:prstGeom>
          <a:noFill/>
        </p:spPr>
        <p:txBody>
          <a:bodyPr wrap="square">
            <a:spAutoFit/>
          </a:bodyPr>
          <a:lstStyle/>
          <a:p>
            <a:pPr>
              <a:lnSpc>
                <a:spcPct val="118000"/>
              </a:lnSpc>
              <a:spcBef>
                <a:spcPts val="0"/>
              </a:spcBef>
            </a:pPr>
            <a:r>
              <a:rPr sz="1900">
                <a:solidFill>
                  <a:srgbClr val="201C18"/>
                </a:solidFill>
                <a:latin typeface="Calibri"/>
              </a:rPr>
              <a:t>—  Réplicas sintéticas: los p-values ilustran metodología, no evidencia nueva.</a:t>
            </a:r>
          </a:p>
          <a:p>
            <a:pPr>
              <a:lnSpc>
                <a:spcPct val="118000"/>
              </a:lnSpc>
              <a:spcBef>
                <a:spcPts val="1000"/>
              </a:spcBef>
            </a:pPr>
            <a:r>
              <a:rPr sz="1900">
                <a:solidFill>
                  <a:srgbClr val="201C18"/>
                </a:solidFill>
                <a:latin typeface="Calibri"/>
              </a:rPr>
              <a:t>—  Ventana 28-112 ddt: solo fase acelerada, no de desaceleración.</a:t>
            </a:r>
          </a:p>
          <a:p>
            <a:pPr>
              <a:lnSpc>
                <a:spcPct val="118000"/>
              </a:lnSpc>
              <a:spcBef>
                <a:spcPts val="1000"/>
              </a:spcBef>
            </a:pPr>
            <a:r>
              <a:rPr sz="1900">
                <a:solidFill>
                  <a:srgbClr val="201C18"/>
                </a:solidFill>
                <a:latin typeface="Calibri"/>
              </a:rPr>
              <a:t>—  Un solo estudio de origen (Aguirre-Medina et al., 2023).</a:t>
            </a:r>
          </a:p>
          <a:p>
            <a:pPr>
              <a:lnSpc>
                <a:spcPct val="118000"/>
              </a:lnSpc>
              <a:spcBef>
                <a:spcPts val="1000"/>
              </a:spcBef>
            </a:pPr>
            <a:r>
              <a:rPr sz="1900">
                <a:solidFill>
                  <a:srgbClr val="201C18"/>
                </a:solidFill>
                <a:latin typeface="Calibri"/>
              </a:rPr>
              <a:t>—  Gompertz no converge en varios grupos con solo 4 puntos.</a:t>
            </a:r>
          </a:p>
        </p:txBody>
      </p:sp>
      <p:sp>
        <p:nvSpPr>
          <p:cNvPr id="5" name="TextBox 4"/>
          <p:cNvSpPr txBox="1"/>
          <p:nvPr/>
        </p:nvSpPr>
        <p:spPr>
          <a:xfrm>
            <a:off x="548640" y="6473952"/>
            <a:ext cx="2743200" cy="274320"/>
          </a:xfrm>
          <a:prstGeom prst="rect">
            <a:avLst/>
          </a:prstGeom>
          <a:noFill/>
        </p:spPr>
        <p:txBody>
          <a:bodyPr wrap="square" anchor="t">
            <a:spAutoFit/>
          </a:bodyPr>
          <a:lstStyle/>
          <a:p>
            <a:pPr algn="l">
              <a:lnSpc>
                <a:spcPct val="115000"/>
              </a:lnSpc>
            </a:pPr>
            <a:r>
              <a:rPr sz="1200" b="0">
                <a:solidFill>
                  <a:srgbClr val="8A8277"/>
                </a:solidFill>
                <a:latin typeface="Calibri"/>
              </a:rPr>
              <a:t>Coffea IA</a:t>
            </a:r>
          </a:p>
        </p:txBody>
      </p:sp>
      <p:sp>
        <p:nvSpPr>
          <p:cNvPr id="6" name="TextBox 5"/>
          <p:cNvSpPr txBox="1"/>
          <p:nvPr/>
        </p:nvSpPr>
        <p:spPr>
          <a:xfrm>
            <a:off x="10545775" y="6473952"/>
            <a:ext cx="1097280" cy="274320"/>
          </a:xfrm>
          <a:prstGeom prst="rect">
            <a:avLst/>
          </a:prstGeom>
          <a:noFill/>
        </p:spPr>
        <p:txBody>
          <a:bodyPr wrap="square" anchor="t">
            <a:spAutoFit/>
          </a:bodyPr>
          <a:lstStyle/>
          <a:p>
            <a:pPr algn="r">
              <a:lnSpc>
                <a:spcPct val="115000"/>
              </a:lnSpc>
            </a:pPr>
            <a:r>
              <a:rPr sz="1200" b="0">
                <a:solidFill>
                  <a:srgbClr val="8A8277"/>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960120"/>
          </a:xfrm>
          <a:prstGeom prst="rect">
            <a:avLst/>
          </a:prstGeom>
          <a:noFill/>
        </p:spPr>
        <p:txBody>
          <a:bodyPr wrap="square" anchor="t">
            <a:spAutoFit/>
          </a:bodyPr>
          <a:lstStyle/>
          <a:p>
            <a:pPr algn="l">
              <a:lnSpc>
                <a:spcPct val="115000"/>
              </a:lnSpc>
            </a:pPr>
            <a:r>
              <a:rPr sz="2800" b="1">
                <a:solidFill>
                  <a:srgbClr val="201C18"/>
                </a:solidFill>
                <a:latin typeface="Georgia"/>
              </a:rPr>
              <a:t>Entregables y estado real</a:t>
            </a:r>
          </a:p>
        </p:txBody>
      </p:sp>
      <p:sp>
        <p:nvSpPr>
          <p:cNvPr id="3" name="Rectangle 2"/>
          <p:cNvSpPr/>
          <p:nvPr/>
        </p:nvSpPr>
        <p:spPr>
          <a:xfrm>
            <a:off x="548640" y="1188720"/>
            <a:ext cx="822960" cy="40640"/>
          </a:xfrm>
          <a:prstGeom prst="rect">
            <a:avLst/>
          </a:prstGeom>
          <a:solidFill>
            <a:srgbClr val="A8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25880"/>
          <a:ext cx="11094415" cy="5029200"/>
        </p:xfrm>
        <a:graphic>
          <a:graphicData uri="http://schemas.openxmlformats.org/drawingml/2006/table">
            <a:tbl>
              <a:tblPr firstRow="1" bandRow="1">
                <a:tableStyleId>{5C22544A-7EE6-4342-B048-85BDC9FD1C3A}</a:tableStyleId>
              </a:tblPr>
              <a:tblGrid>
                <a:gridCol w="548640"/>
                <a:gridCol w="4846320"/>
                <a:gridCol w="5699455"/>
              </a:tblGrid>
              <a:tr h="457200">
                <a:tc>
                  <a:txBody>
                    <a:bodyPr/>
                    <a:lstStyle/>
                    <a:p>
                      <a:pPr>
                        <a:defRPr sz="1300" b="1">
                          <a:solidFill>
                            <a:srgbClr val="F1ECE3"/>
                          </a:solidFill>
                          <a:latin typeface="Calibri"/>
                        </a:defRPr>
                      </a:pPr>
                      <a:r>
                        <a:t>#</a:t>
                      </a:r>
                    </a:p>
                  </a:txBody>
                  <a:tcPr>
                    <a:solidFill>
                      <a:srgbClr val="A8432B"/>
                    </a:solidFill>
                  </a:tcPr>
                </a:tc>
                <a:tc>
                  <a:txBody>
                    <a:bodyPr/>
                    <a:lstStyle/>
                    <a:p>
                      <a:pPr>
                        <a:defRPr sz="1300" b="1">
                          <a:solidFill>
                            <a:srgbClr val="F1ECE3"/>
                          </a:solidFill>
                          <a:latin typeface="Calibri"/>
                        </a:defRPr>
                      </a:pPr>
                      <a:r>
                        <a:t>Producto</a:t>
                      </a:r>
                    </a:p>
                  </a:txBody>
                  <a:tcPr>
                    <a:solidFill>
                      <a:srgbClr val="A8432B"/>
                    </a:solidFill>
                  </a:tcPr>
                </a:tc>
                <a:tc>
                  <a:txBody>
                    <a:bodyPr/>
                    <a:lstStyle/>
                    <a:p>
                      <a:pPr>
                        <a:defRPr sz="1300" b="1">
                          <a:solidFill>
                            <a:srgbClr val="F1ECE3"/>
                          </a:solidFill>
                          <a:latin typeface="Calibri"/>
                        </a:defRPr>
                      </a:pPr>
                      <a:r>
                        <a:t>Estado (entregables/README.md)</a:t>
                      </a:r>
                    </a:p>
                  </a:txBody>
                  <a:tcPr>
                    <a:solidFill>
                      <a:srgbClr val="A8432B"/>
                    </a:solidFill>
                  </a:tcPr>
                </a:tc>
              </a:tr>
              <a:tr h="457200">
                <a:tc>
                  <a:txBody>
                    <a:bodyPr/>
                    <a:lstStyle/>
                    <a:p>
                      <a:pPr>
                        <a:defRPr sz="1300">
                          <a:solidFill>
                            <a:srgbClr val="201C18"/>
                          </a:solidFill>
                          <a:latin typeface="Calibri"/>
                        </a:defRPr>
                      </a:pPr>
                      <a:r>
                        <a:t>1</a:t>
                      </a:r>
                    </a:p>
                  </a:txBody>
                  <a:tcPr marT="25400" marB="25400">
                    <a:solidFill>
                      <a:srgbClr val="FFFFFF"/>
                    </a:solidFill>
                  </a:tcPr>
                </a:tc>
                <a:tc>
                  <a:txBody>
                    <a:bodyPr/>
                    <a:lstStyle/>
                    <a:p>
                      <a:pPr>
                        <a:defRPr sz="1300">
                          <a:solidFill>
                            <a:srgbClr val="201C18"/>
                          </a:solidFill>
                          <a:latin typeface="Calibri"/>
                        </a:defRPr>
                      </a:pPr>
                      <a:r>
                        <a:t>Manuscrito científico</a:t>
                      </a:r>
                    </a:p>
                  </a:txBody>
                  <a:tcPr marT="25400" marB="25400">
                    <a:solidFill>
                      <a:srgbClr val="FFFFFF"/>
                    </a:solidFill>
                  </a:tcPr>
                </a:tc>
                <a:tc>
                  <a:txBody>
                    <a:bodyPr/>
                    <a:lstStyle/>
                    <a:p>
                      <a:pPr>
                        <a:defRPr sz="1300">
                          <a:solidFill>
                            <a:srgbClr val="201C18"/>
                          </a:solidFill>
                          <a:latin typeface="Calibri"/>
                        </a:defRPr>
                      </a:pPr>
                      <a:r>
                        <a:t>Borrador para revisión del docente</a:t>
                      </a:r>
                    </a:p>
                  </a:txBody>
                  <a:tcPr marT="25400" marB="25400">
                    <a:solidFill>
                      <a:srgbClr val="FFFFFF"/>
                    </a:solidFill>
                  </a:tcPr>
                </a:tc>
              </a:tr>
              <a:tr h="457200">
                <a:tc>
                  <a:txBody>
                    <a:bodyPr/>
                    <a:lstStyle/>
                    <a:p>
                      <a:pPr>
                        <a:defRPr sz="1300">
                          <a:solidFill>
                            <a:srgbClr val="201C18"/>
                          </a:solidFill>
                          <a:latin typeface="Calibri"/>
                        </a:defRPr>
                      </a:pPr>
                      <a:r>
                        <a:t>2</a:t>
                      </a:r>
                    </a:p>
                  </a:txBody>
                  <a:tcPr marT="25400" marB="25400">
                    <a:solidFill>
                      <a:srgbClr val="F1ECE3"/>
                    </a:solidFill>
                  </a:tcPr>
                </a:tc>
                <a:tc>
                  <a:txBody>
                    <a:bodyPr/>
                    <a:lstStyle/>
                    <a:p>
                      <a:pPr>
                        <a:defRPr sz="1300">
                          <a:solidFill>
                            <a:srgbClr val="201C18"/>
                          </a:solidFill>
                          <a:latin typeface="Calibri"/>
                        </a:defRPr>
                      </a:pPr>
                      <a:r>
                        <a:t>Metodología estadística</a:t>
                      </a:r>
                    </a:p>
                  </a:txBody>
                  <a:tcPr marT="25400" marB="25400">
                    <a:solidFill>
                      <a:srgbClr val="F1ECE3"/>
                    </a:solidFill>
                  </a:tcPr>
                </a:tc>
                <a:tc>
                  <a:txBody>
                    <a:bodyPr/>
                    <a:lstStyle/>
                    <a:p>
                      <a:pPr>
                        <a:defRPr sz="1300">
                          <a:solidFill>
                            <a:srgbClr val="201C18"/>
                          </a:solidFill>
                          <a:latin typeface="Calibri"/>
                        </a:defRPr>
                      </a:pPr>
                      <a:r>
                        <a:t>Cubierto por la app</a:t>
                      </a:r>
                    </a:p>
                  </a:txBody>
                  <a:tcPr marT="25400" marB="25400">
                    <a:solidFill>
                      <a:srgbClr val="F1ECE3"/>
                    </a:solidFill>
                  </a:tcPr>
                </a:tc>
              </a:tr>
              <a:tr h="457200">
                <a:tc>
                  <a:txBody>
                    <a:bodyPr/>
                    <a:lstStyle/>
                    <a:p>
                      <a:pPr>
                        <a:defRPr sz="1300">
                          <a:solidFill>
                            <a:srgbClr val="201C18"/>
                          </a:solidFill>
                          <a:latin typeface="Calibri"/>
                        </a:defRPr>
                      </a:pPr>
                      <a:r>
                        <a:t>3</a:t>
                      </a:r>
                    </a:p>
                  </a:txBody>
                  <a:tcPr marT="25400" marB="25400">
                    <a:solidFill>
                      <a:srgbClr val="FFFFFF"/>
                    </a:solidFill>
                  </a:tcPr>
                </a:tc>
                <a:tc>
                  <a:txBody>
                    <a:bodyPr/>
                    <a:lstStyle/>
                    <a:p>
                      <a:pPr>
                        <a:defRPr sz="1300">
                          <a:solidFill>
                            <a:srgbClr val="201C18"/>
                          </a:solidFill>
                          <a:latin typeface="Calibri"/>
                        </a:defRPr>
                      </a:pPr>
                      <a:r>
                        <a:t>Métricas de ajuste de modelos</a:t>
                      </a:r>
                    </a:p>
                  </a:txBody>
                  <a:tcPr marT="25400" marB="25400">
                    <a:solidFill>
                      <a:srgbClr val="FFFFFF"/>
                    </a:solidFill>
                  </a:tcPr>
                </a:tc>
                <a:tc>
                  <a:txBody>
                    <a:bodyPr/>
                    <a:lstStyle/>
                    <a:p>
                      <a:pPr>
                        <a:defRPr sz="1300">
                          <a:solidFill>
                            <a:srgbClr val="201C18"/>
                          </a:solidFill>
                          <a:latin typeface="Calibri"/>
                        </a:defRPr>
                      </a:pPr>
                      <a:r>
                        <a:t>Cubierto por la app</a:t>
                      </a:r>
                    </a:p>
                  </a:txBody>
                  <a:tcPr marT="25400" marB="25400">
                    <a:solidFill>
                      <a:srgbClr val="FFFFFF"/>
                    </a:solidFill>
                  </a:tcPr>
                </a:tc>
              </a:tr>
              <a:tr h="457200">
                <a:tc>
                  <a:txBody>
                    <a:bodyPr/>
                    <a:lstStyle/>
                    <a:p>
                      <a:pPr>
                        <a:defRPr sz="1300">
                          <a:solidFill>
                            <a:srgbClr val="201C18"/>
                          </a:solidFill>
                          <a:latin typeface="Calibri"/>
                        </a:defRPr>
                      </a:pPr>
                      <a:r>
                        <a:t>4</a:t>
                      </a:r>
                    </a:p>
                  </a:txBody>
                  <a:tcPr marT="25400" marB="25400">
                    <a:solidFill>
                      <a:srgbClr val="F1ECE3"/>
                    </a:solidFill>
                  </a:tcPr>
                </a:tc>
                <a:tc>
                  <a:txBody>
                    <a:bodyPr/>
                    <a:lstStyle/>
                    <a:p>
                      <a:pPr>
                        <a:defRPr sz="1300">
                          <a:solidFill>
                            <a:srgbClr val="201C18"/>
                          </a:solidFill>
                          <a:latin typeface="Calibri"/>
                        </a:defRPr>
                      </a:pPr>
                      <a:r>
                        <a:t>Código documentado</a:t>
                      </a:r>
                    </a:p>
                  </a:txBody>
                  <a:tcPr marT="25400" marB="25400">
                    <a:solidFill>
                      <a:srgbClr val="F1ECE3"/>
                    </a:solidFill>
                  </a:tcPr>
                </a:tc>
                <a:tc>
                  <a:txBody>
                    <a:bodyPr/>
                    <a:lstStyle/>
                    <a:p>
                      <a:pPr>
                        <a:defRPr sz="1300">
                          <a:solidFill>
                            <a:srgbClr val="201C18"/>
                          </a:solidFill>
                          <a:latin typeface="Calibri"/>
                        </a:defRPr>
                      </a:pPr>
                      <a:r>
                        <a:t>En preparación (HTML navegable)</a:t>
                      </a:r>
                    </a:p>
                  </a:txBody>
                  <a:tcPr marT="25400" marB="25400">
                    <a:solidFill>
                      <a:srgbClr val="F1ECE3"/>
                    </a:solidFill>
                  </a:tcPr>
                </a:tc>
              </a:tr>
              <a:tr h="457200">
                <a:tc>
                  <a:txBody>
                    <a:bodyPr/>
                    <a:lstStyle/>
                    <a:p>
                      <a:pPr>
                        <a:defRPr sz="1300">
                          <a:solidFill>
                            <a:srgbClr val="201C18"/>
                          </a:solidFill>
                          <a:latin typeface="Calibri"/>
                        </a:defRPr>
                      </a:pPr>
                      <a:r>
                        <a:t>5</a:t>
                      </a:r>
                    </a:p>
                  </a:txBody>
                  <a:tcPr marT="25400" marB="25400">
                    <a:solidFill>
                      <a:srgbClr val="FFFFFF"/>
                    </a:solidFill>
                  </a:tcPr>
                </a:tc>
                <a:tc>
                  <a:txBody>
                    <a:bodyPr/>
                    <a:lstStyle/>
                    <a:p>
                      <a:pPr>
                        <a:defRPr sz="1300">
                          <a:solidFill>
                            <a:srgbClr val="201C18"/>
                          </a:solidFill>
                          <a:latin typeface="Calibri"/>
                        </a:defRPr>
                      </a:pPr>
                      <a:r>
                        <a:t>Informes de estudiantes</a:t>
                      </a:r>
                    </a:p>
                  </a:txBody>
                  <a:tcPr marT="25400" marB="25400">
                    <a:solidFill>
                      <a:srgbClr val="FFFFFF"/>
                    </a:solidFill>
                  </a:tcPr>
                </a:tc>
                <a:tc>
                  <a:txBody>
                    <a:bodyPr/>
                    <a:lstStyle/>
                    <a:p>
                      <a:pPr>
                        <a:defRPr sz="1300">
                          <a:solidFill>
                            <a:srgbClr val="201C18"/>
                          </a:solidFill>
                          <a:latin typeface="Calibri"/>
                        </a:defRPr>
                      </a:pPr>
                      <a:r>
                        <a:t>Plantilla</a:t>
                      </a:r>
                    </a:p>
                  </a:txBody>
                  <a:tcPr marT="25400" marB="25400">
                    <a:solidFill>
                      <a:srgbClr val="FFFFFF"/>
                    </a:solidFill>
                  </a:tcPr>
                </a:tc>
              </a:tr>
              <a:tr h="457200">
                <a:tc>
                  <a:txBody>
                    <a:bodyPr/>
                    <a:lstStyle/>
                    <a:p>
                      <a:pPr>
                        <a:defRPr sz="1300">
                          <a:solidFill>
                            <a:srgbClr val="201C18"/>
                          </a:solidFill>
                          <a:latin typeface="Calibri"/>
                        </a:defRPr>
                      </a:pPr>
                      <a:r>
                        <a:t>6</a:t>
                      </a:r>
                    </a:p>
                  </a:txBody>
                  <a:tcPr marT="25400" marB="25400">
                    <a:solidFill>
                      <a:srgbClr val="F1ECE3"/>
                    </a:solidFill>
                  </a:tcPr>
                </a:tc>
                <a:tc>
                  <a:txBody>
                    <a:bodyPr/>
                    <a:lstStyle/>
                    <a:p>
                      <a:pPr>
                        <a:defRPr sz="1300">
                          <a:solidFill>
                            <a:srgbClr val="201C18"/>
                          </a:solidFill>
                          <a:latin typeface="Calibri"/>
                        </a:defRPr>
                      </a:pPr>
                      <a:r>
                        <a:t>Taller de capacitación</a:t>
                      </a:r>
                    </a:p>
                  </a:txBody>
                  <a:tcPr marT="25400" marB="25400">
                    <a:solidFill>
                      <a:srgbClr val="F1ECE3"/>
                    </a:solidFill>
                  </a:tcPr>
                </a:tc>
                <a:tc>
                  <a:txBody>
                    <a:bodyPr/>
                    <a:lstStyle/>
                    <a:p>
                      <a:pPr>
                        <a:defRPr sz="1300">
                          <a:solidFill>
                            <a:srgbClr val="201C18"/>
                          </a:solidFill>
                          <a:latin typeface="Calibri"/>
                        </a:defRPr>
                      </a:pPr>
                      <a:r>
                        <a:t>Plantilla</a:t>
                      </a:r>
                    </a:p>
                  </a:txBody>
                  <a:tcPr marT="25400" marB="25400">
                    <a:solidFill>
                      <a:srgbClr val="F1ECE3"/>
                    </a:solidFill>
                  </a:tcPr>
                </a:tc>
              </a:tr>
              <a:tr h="457200">
                <a:tc>
                  <a:txBody>
                    <a:bodyPr/>
                    <a:lstStyle/>
                    <a:p>
                      <a:pPr>
                        <a:defRPr sz="1300">
                          <a:solidFill>
                            <a:srgbClr val="201C18"/>
                          </a:solidFill>
                          <a:latin typeface="Calibri"/>
                        </a:defRPr>
                      </a:pPr>
                      <a:r>
                        <a:t>7</a:t>
                      </a:r>
                    </a:p>
                  </a:txBody>
                  <a:tcPr marT="25400" marB="25400">
                    <a:solidFill>
                      <a:srgbClr val="FFFFFF"/>
                    </a:solidFill>
                  </a:tcPr>
                </a:tc>
                <a:tc>
                  <a:txBody>
                    <a:bodyPr/>
                    <a:lstStyle/>
                    <a:p>
                      <a:pPr>
                        <a:defRPr sz="1300">
                          <a:solidFill>
                            <a:srgbClr val="201C18"/>
                          </a:solidFill>
                          <a:latin typeface="Calibri"/>
                        </a:defRPr>
                      </a:pPr>
                      <a:r>
                        <a:t>Publicación colaborativa</a:t>
                      </a:r>
                    </a:p>
                  </a:txBody>
                  <a:tcPr marT="25400" marB="25400">
                    <a:solidFill>
                      <a:srgbClr val="FFFFFF"/>
                    </a:solidFill>
                  </a:tcPr>
                </a:tc>
                <a:tc>
                  <a:txBody>
                    <a:bodyPr/>
                    <a:lstStyle/>
                    <a:p>
                      <a:pPr>
                        <a:defRPr sz="1300">
                          <a:solidFill>
                            <a:srgbClr val="201C18"/>
                          </a:solidFill>
                          <a:latin typeface="Calibri"/>
                        </a:defRPr>
                      </a:pPr>
                      <a:r>
                        <a:t>Esquema / en preparación</a:t>
                      </a:r>
                    </a:p>
                  </a:txBody>
                  <a:tcPr marT="25400" marB="25400">
                    <a:solidFill>
                      <a:srgbClr val="FFFFFF"/>
                    </a:solidFill>
                  </a:tcPr>
                </a:tc>
              </a:tr>
              <a:tr h="457200">
                <a:tc>
                  <a:txBody>
                    <a:bodyPr/>
                    <a:lstStyle/>
                    <a:p>
                      <a:pPr>
                        <a:defRPr sz="1300">
                          <a:solidFill>
                            <a:srgbClr val="201C18"/>
                          </a:solidFill>
                          <a:latin typeface="Calibri"/>
                        </a:defRPr>
                      </a:pPr>
                      <a:r>
                        <a:t>8</a:t>
                      </a:r>
                    </a:p>
                  </a:txBody>
                  <a:tcPr marT="25400" marB="25400">
                    <a:solidFill>
                      <a:srgbClr val="F1ECE3"/>
                    </a:solidFill>
                  </a:tcPr>
                </a:tc>
                <a:tc>
                  <a:txBody>
                    <a:bodyPr/>
                    <a:lstStyle/>
                    <a:p>
                      <a:pPr>
                        <a:defRPr sz="1300">
                          <a:solidFill>
                            <a:srgbClr val="201C18"/>
                          </a:solidFill>
                          <a:latin typeface="Calibri"/>
                        </a:defRPr>
                      </a:pPr>
                      <a:r>
                        <a:t>Artículo divulgativo</a:t>
                      </a:r>
                    </a:p>
                  </a:txBody>
                  <a:tcPr marT="25400" marB="25400">
                    <a:solidFill>
                      <a:srgbClr val="F1ECE3"/>
                    </a:solidFill>
                  </a:tcPr>
                </a:tc>
                <a:tc>
                  <a:txBody>
                    <a:bodyPr/>
                    <a:lstStyle/>
                    <a:p>
                      <a:pPr>
                        <a:defRPr sz="1300">
                          <a:solidFill>
                            <a:srgbClr val="201C18"/>
                          </a:solidFill>
                          <a:latin typeface="Calibri"/>
                        </a:defRPr>
                      </a:pPr>
                      <a:r>
                        <a:t>Borrador maquetado, pendiente de publicar</a:t>
                      </a:r>
                    </a:p>
                  </a:txBody>
                  <a:tcPr marT="25400" marB="25400">
                    <a:solidFill>
                      <a:srgbClr val="F1ECE3"/>
                    </a:solidFill>
                  </a:tcPr>
                </a:tc>
              </a:tr>
              <a:tr h="457200">
                <a:tc>
                  <a:txBody>
                    <a:bodyPr/>
                    <a:lstStyle/>
                    <a:p>
                      <a:pPr>
                        <a:defRPr sz="1300">
                          <a:solidFill>
                            <a:srgbClr val="201C18"/>
                          </a:solidFill>
                          <a:latin typeface="Calibri"/>
                        </a:defRPr>
                      </a:pPr>
                      <a:r>
                        <a:t>9</a:t>
                      </a:r>
                    </a:p>
                  </a:txBody>
                  <a:tcPr marT="25400" marB="25400">
                    <a:solidFill>
                      <a:srgbClr val="FFFFFF"/>
                    </a:solidFill>
                  </a:tcPr>
                </a:tc>
                <a:tc>
                  <a:txBody>
                    <a:bodyPr/>
                    <a:lstStyle/>
                    <a:p>
                      <a:pPr>
                        <a:defRPr sz="1300">
                          <a:solidFill>
                            <a:srgbClr val="201C18"/>
                          </a:solidFill>
                          <a:latin typeface="Calibri"/>
                        </a:defRPr>
                      </a:pPr>
                      <a:r>
                        <a:t>Guía técnica de usuario</a:t>
                      </a:r>
                    </a:p>
                  </a:txBody>
                  <a:tcPr marT="25400" marB="25400">
                    <a:solidFill>
                      <a:srgbClr val="FFFFFF"/>
                    </a:solidFill>
                  </a:tcPr>
                </a:tc>
                <a:tc>
                  <a:txBody>
                    <a:bodyPr/>
                    <a:lstStyle/>
                    <a:p>
                      <a:pPr>
                        <a:defRPr sz="1300">
                          <a:solidFill>
                            <a:srgbClr val="201C18"/>
                          </a:solidFill>
                          <a:latin typeface="Calibri"/>
                        </a:defRPr>
                      </a:pPr>
                      <a:r>
                        <a:t>Borrador para revisión del docente</a:t>
                      </a:r>
                    </a:p>
                  </a:txBody>
                  <a:tcPr marT="25400" marB="25400">
                    <a:solidFill>
                      <a:srgbClr val="FFFFFF"/>
                    </a:solidFill>
                  </a:tcPr>
                </a:tc>
              </a:tr>
              <a:tr h="457200">
                <a:tc>
                  <a:txBody>
                    <a:bodyPr/>
                    <a:lstStyle/>
                    <a:p>
                      <a:pPr>
                        <a:defRPr sz="1300">
                          <a:solidFill>
                            <a:srgbClr val="201C18"/>
                          </a:solidFill>
                          <a:latin typeface="Calibri"/>
                        </a:defRPr>
                      </a:pPr>
                      <a:r>
                        <a:t>10</a:t>
                      </a:r>
                    </a:p>
                  </a:txBody>
                  <a:tcPr marT="25400" marB="25400">
                    <a:solidFill>
                      <a:srgbClr val="F1ECE3"/>
                    </a:solidFill>
                  </a:tcPr>
                </a:tc>
                <a:tc>
                  <a:txBody>
                    <a:bodyPr/>
                    <a:lstStyle/>
                    <a:p>
                      <a:pPr>
                        <a:defRPr sz="1300">
                          <a:solidFill>
                            <a:srgbClr val="201C18"/>
                          </a:solidFill>
                          <a:latin typeface="Calibri"/>
                        </a:defRPr>
                      </a:pPr>
                      <a:r>
                        <a:t>Ponencia (esta presentación)</a:t>
                      </a:r>
                    </a:p>
                  </a:txBody>
                  <a:tcPr marT="25400" marB="25400">
                    <a:solidFill>
                      <a:srgbClr val="F1ECE3"/>
                    </a:solidFill>
                  </a:tcPr>
                </a:tc>
                <a:tc>
                  <a:txBody>
                    <a:bodyPr/>
                    <a:lstStyle/>
                    <a:p>
                      <a:pPr>
                        <a:defRPr sz="1300">
                          <a:solidFill>
                            <a:srgbClr val="201C18"/>
                          </a:solidFill>
                          <a:latin typeface="Calibri"/>
                        </a:defRPr>
                      </a:pPr>
                      <a:r>
                        <a:t>Material preparado, pendiente de presentar</a:t>
                      </a:r>
                    </a:p>
                  </a:txBody>
                  <a:tcPr marT="25400" marB="25400">
                    <a:solidFill>
                      <a:srgbClr val="F1ECE3"/>
                    </a:solidFill>
                  </a:tcPr>
                </a:tc>
              </a:tr>
            </a:tbl>
          </a:graphicData>
        </a:graphic>
      </p:graphicFrame>
      <p:sp>
        <p:nvSpPr>
          <p:cNvPr id="5" name="TextBox 4"/>
          <p:cNvSpPr txBox="1"/>
          <p:nvPr/>
        </p:nvSpPr>
        <p:spPr>
          <a:xfrm>
            <a:off x="548640" y="6473952"/>
            <a:ext cx="2743200" cy="274320"/>
          </a:xfrm>
          <a:prstGeom prst="rect">
            <a:avLst/>
          </a:prstGeom>
          <a:noFill/>
        </p:spPr>
        <p:txBody>
          <a:bodyPr wrap="square" anchor="t">
            <a:spAutoFit/>
          </a:bodyPr>
          <a:lstStyle/>
          <a:p>
            <a:pPr algn="l">
              <a:lnSpc>
                <a:spcPct val="115000"/>
              </a:lnSpc>
            </a:pPr>
            <a:r>
              <a:rPr sz="1200" b="0">
                <a:solidFill>
                  <a:srgbClr val="8A8277"/>
                </a:solidFill>
                <a:latin typeface="Calibri"/>
              </a:rPr>
              <a:t>Coffea IA</a:t>
            </a:r>
          </a:p>
        </p:txBody>
      </p:sp>
      <p:sp>
        <p:nvSpPr>
          <p:cNvPr id="6" name="TextBox 5"/>
          <p:cNvSpPr txBox="1"/>
          <p:nvPr/>
        </p:nvSpPr>
        <p:spPr>
          <a:xfrm>
            <a:off x="10545775" y="6473952"/>
            <a:ext cx="1097280" cy="274320"/>
          </a:xfrm>
          <a:prstGeom prst="rect">
            <a:avLst/>
          </a:prstGeom>
          <a:noFill/>
        </p:spPr>
        <p:txBody>
          <a:bodyPr wrap="square" anchor="t">
            <a:spAutoFit/>
          </a:bodyPr>
          <a:lstStyle/>
          <a:p>
            <a:pPr algn="r">
              <a:lnSpc>
                <a:spcPct val="115000"/>
              </a:lnSpc>
            </a:pPr>
            <a:r>
              <a:rPr sz="1200" b="0">
                <a:solidFill>
                  <a:srgbClr val="8A8277"/>
                </a:solidFill>
                <a:latin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A8432B"/>
        </a:solidFill>
        <a:effectLst/>
      </p:bgPr>
    </p:bg>
    <p:spTree>
      <p:nvGrpSpPr>
        <p:cNvPr id="1" name=""/>
        <p:cNvGrpSpPr/>
        <p:nvPr/>
      </p:nvGrpSpPr>
      <p:grpSpPr/>
      <p:sp>
        <p:nvSpPr>
          <p:cNvPr id="2" name="TextBox 1"/>
          <p:cNvSpPr txBox="1"/>
          <p:nvPr/>
        </p:nvSpPr>
        <p:spPr>
          <a:xfrm>
            <a:off x="548640" y="1188720"/>
            <a:ext cx="11094415" cy="960120"/>
          </a:xfrm>
          <a:prstGeom prst="rect">
            <a:avLst/>
          </a:prstGeom>
          <a:noFill/>
        </p:spPr>
        <p:txBody>
          <a:bodyPr wrap="square" anchor="t">
            <a:spAutoFit/>
          </a:bodyPr>
          <a:lstStyle/>
          <a:p>
            <a:pPr algn="l">
              <a:lnSpc>
                <a:spcPct val="115000"/>
              </a:lnSpc>
            </a:pPr>
            <a:r>
              <a:rPr sz="3200" b="1">
                <a:solidFill>
                  <a:srgbClr val="F1ECE3"/>
                </a:solidFill>
                <a:latin typeface="Georgia"/>
              </a:rPr>
              <a:t>Gracias</a:t>
            </a:r>
          </a:p>
        </p:txBody>
      </p:sp>
      <p:sp>
        <p:nvSpPr>
          <p:cNvPr id="3" name="Rectangle 2"/>
          <p:cNvSpPr/>
          <p:nvPr/>
        </p:nvSpPr>
        <p:spPr>
          <a:xfrm>
            <a:off x="548640" y="1965960"/>
            <a:ext cx="822960" cy="40640"/>
          </a:xfrm>
          <a:prstGeom prst="rect">
            <a:avLst/>
          </a:prstGeom>
          <a:solidFill>
            <a:srgbClr val="F1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377440"/>
            <a:ext cx="11094415" cy="2377440"/>
          </a:xfrm>
          <a:prstGeom prst="rect">
            <a:avLst/>
          </a:prstGeom>
          <a:noFill/>
        </p:spPr>
        <p:txBody>
          <a:bodyPr wrap="square">
            <a:spAutoFit/>
          </a:bodyPr>
          <a:lstStyle/>
          <a:p>
            <a:pPr>
              <a:lnSpc>
                <a:spcPct val="118000"/>
              </a:lnSpc>
              <a:spcBef>
                <a:spcPts val="0"/>
              </a:spcBef>
            </a:pPr>
            <a:r>
              <a:rPr sz="2100">
                <a:solidFill>
                  <a:srgbClr val="F1ECE3"/>
                </a:solidFill>
                <a:latin typeface="Calibri"/>
              </a:rPr>
              <a:t>—  Repositorio: github.com/0scar07/proyecto-coffea-hma</a:t>
            </a:r>
          </a:p>
          <a:p>
            <a:pPr>
              <a:lnSpc>
                <a:spcPct val="118000"/>
              </a:lnSpc>
              <a:spcBef>
                <a:spcPts val="1000"/>
              </a:spcBef>
            </a:pPr>
            <a:r>
              <a:rPr sz="2100">
                <a:solidFill>
                  <a:srgbClr val="F1ECE3"/>
                </a:solidFill>
                <a:latin typeface="Calibri"/>
              </a:rPr>
              <a:t>—  App y documentación técnica navegable en el mismo repositorio.</a:t>
            </a:r>
          </a:p>
          <a:p>
            <a:pPr>
              <a:lnSpc>
                <a:spcPct val="118000"/>
              </a:lnSpc>
              <a:spcBef>
                <a:spcPts val="1000"/>
              </a:spcBef>
            </a:pPr>
            <a:r>
              <a:rPr sz="2100">
                <a:solidFill>
                  <a:srgbClr val="F1ECE3"/>
                </a:solidFill>
                <a:latin typeface="Calibri"/>
              </a:rPr>
              <a:t>—  Contacto: [por definir]  ·  Preguntas.</a:t>
            </a:r>
          </a:p>
        </p:txBody>
      </p:sp>
      <p:sp>
        <p:nvSpPr>
          <p:cNvPr id="5" name="TextBox 4"/>
          <p:cNvSpPr txBox="1"/>
          <p:nvPr/>
        </p:nvSpPr>
        <p:spPr>
          <a:xfrm>
            <a:off x="548640" y="6473952"/>
            <a:ext cx="2743200" cy="274320"/>
          </a:xfrm>
          <a:prstGeom prst="rect">
            <a:avLst/>
          </a:prstGeom>
          <a:noFill/>
        </p:spPr>
        <p:txBody>
          <a:bodyPr wrap="square" anchor="t">
            <a:spAutoFit/>
          </a:bodyPr>
          <a:lstStyle/>
          <a:p>
            <a:pPr algn="l">
              <a:lnSpc>
                <a:spcPct val="115000"/>
              </a:lnSpc>
            </a:pPr>
            <a:r>
              <a:rPr sz="1200" b="0">
                <a:solidFill>
                  <a:srgbClr val="F1ECE3"/>
                </a:solidFill>
                <a:latin typeface="Calibri"/>
              </a:rPr>
              <a:t>Coffea IA</a:t>
            </a:r>
          </a:p>
        </p:txBody>
      </p:sp>
      <p:sp>
        <p:nvSpPr>
          <p:cNvPr id="6" name="TextBox 5"/>
          <p:cNvSpPr txBox="1"/>
          <p:nvPr/>
        </p:nvSpPr>
        <p:spPr>
          <a:xfrm>
            <a:off x="10545775" y="6473952"/>
            <a:ext cx="1097280" cy="274320"/>
          </a:xfrm>
          <a:prstGeom prst="rect">
            <a:avLst/>
          </a:prstGeom>
          <a:noFill/>
        </p:spPr>
        <p:txBody>
          <a:bodyPr wrap="square" anchor="t">
            <a:spAutoFit/>
          </a:bodyPr>
          <a:lstStyle/>
          <a:p>
            <a:pPr algn="r">
              <a:lnSpc>
                <a:spcPct val="115000"/>
              </a:lnSpc>
            </a:pPr>
            <a:r>
              <a:rPr sz="1200" b="0">
                <a:solidFill>
                  <a:srgbClr val="F1ECE3"/>
                </a:solidFill>
                <a:latin typeface="Calibri"/>
              </a:rPr>
              <a:t>14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1ECE3"/>
        </a:solidFill>
        <a:effectLst/>
      </p:bgPr>
    </p:bg>
    <p:spTree>
      <p:nvGrpSpPr>
        <p:cNvPr id="1" name=""/>
        <p:cNvGrpSpPr/>
        <p:nvPr/>
      </p:nvGrpSpPr>
      <p:grpSpPr/>
      <p:sp>
        <p:nvSpPr>
          <p:cNvPr id="2" name="TextBox 1"/>
          <p:cNvSpPr txBox="1"/>
          <p:nvPr/>
        </p:nvSpPr>
        <p:spPr>
          <a:xfrm>
            <a:off x="548640" y="365760"/>
            <a:ext cx="7315200" cy="274320"/>
          </a:xfrm>
          <a:prstGeom prst="rect">
            <a:avLst/>
          </a:prstGeom>
          <a:noFill/>
        </p:spPr>
        <p:txBody>
          <a:bodyPr wrap="square" anchor="t">
            <a:spAutoFit/>
          </a:bodyPr>
          <a:lstStyle/>
          <a:p>
            <a:pPr algn="l">
              <a:lnSpc>
                <a:spcPct val="115000"/>
              </a:lnSpc>
            </a:pPr>
            <a:r>
              <a:rPr sz="1200" b="1">
                <a:solidFill>
                  <a:srgbClr val="8A8277"/>
                </a:solidFill>
                <a:latin typeface="Calibri"/>
              </a:rPr>
              <a:t>RESPALDO — PREGUNTAS QUE PUEDE HACER EL JURADO</a:t>
            </a:r>
          </a:p>
        </p:txBody>
      </p:sp>
      <p:sp>
        <p:nvSpPr>
          <p:cNvPr id="3" name="TextBox 2"/>
          <p:cNvSpPr txBox="1"/>
          <p:nvPr/>
        </p:nvSpPr>
        <p:spPr>
          <a:xfrm>
            <a:off x="548640" y="1005840"/>
            <a:ext cx="11094415" cy="1188720"/>
          </a:xfrm>
          <a:prstGeom prst="rect">
            <a:avLst/>
          </a:prstGeom>
          <a:noFill/>
        </p:spPr>
        <p:txBody>
          <a:bodyPr wrap="square" anchor="t">
            <a:spAutoFit/>
          </a:bodyPr>
          <a:lstStyle/>
          <a:p>
            <a:pPr algn="l">
              <a:lnSpc>
                <a:spcPct val="115000"/>
              </a:lnSpc>
            </a:pPr>
            <a:r>
              <a:rPr sz="2600" b="1">
                <a:solidFill>
                  <a:srgbClr val="A8432B"/>
                </a:solidFill>
                <a:latin typeface="Georgia"/>
              </a:rPr>
              <a:t>¿Por qué usar réplicas sintéticas y no los datos originales?</a:t>
            </a:r>
          </a:p>
        </p:txBody>
      </p:sp>
      <p:sp>
        <p:nvSpPr>
          <p:cNvPr id="4" name="TextBox 3"/>
          <p:cNvSpPr txBox="1"/>
          <p:nvPr/>
        </p:nvSpPr>
        <p:spPr>
          <a:xfrm>
            <a:off x="548640" y="2468880"/>
            <a:ext cx="11094415" cy="3657600"/>
          </a:xfrm>
          <a:prstGeom prst="rect">
            <a:avLst/>
          </a:prstGeom>
          <a:noFill/>
        </p:spPr>
        <p:txBody>
          <a:bodyPr wrap="square" anchor="t">
            <a:spAutoFit/>
          </a:bodyPr>
          <a:lstStyle/>
          <a:p>
            <a:pPr algn="l">
              <a:lnSpc>
                <a:spcPct val="135000"/>
              </a:lnSpc>
            </a:pPr>
            <a:r>
              <a:rPr sz="1900" b="0">
                <a:solidFill>
                  <a:srgbClr val="201C18"/>
                </a:solidFill>
                <a:latin typeface="Calibri"/>
              </a:rPr>
              <a:t>El paper de Aguirre-Medina et al. (2023) solo publica medias y CV% por tratamiento y día, no mediciones planta por planta. Generamos réplicas sintéticas que reproducen exactamente esos estadísticos para poder ajustar los modelos y correr una prueba t; sin eso no habría datos individuales que ajustar.</a:t>
            </a:r>
          </a:p>
        </p:txBody>
      </p:sp>
      <p:sp>
        <p:nvSpPr>
          <p:cNvPr id="5" name="TextBox 4"/>
          <p:cNvSpPr txBox="1"/>
          <p:nvPr/>
        </p:nvSpPr>
        <p:spPr>
          <a:xfrm>
            <a:off x="548640" y="6473952"/>
            <a:ext cx="3657600" cy="274320"/>
          </a:xfrm>
          <a:prstGeom prst="rect">
            <a:avLst/>
          </a:prstGeom>
          <a:noFill/>
        </p:spPr>
        <p:txBody>
          <a:bodyPr wrap="square" anchor="t">
            <a:spAutoFit/>
          </a:bodyPr>
          <a:lstStyle/>
          <a:p>
            <a:pPr algn="l">
              <a:lnSpc>
                <a:spcPct val="115000"/>
              </a:lnSpc>
            </a:pPr>
            <a:r>
              <a:rPr sz="1200" b="0">
                <a:solidFill>
                  <a:srgbClr val="8A8277"/>
                </a:solidFill>
                <a:latin typeface="Calibri"/>
              </a:rPr>
              <a:t>Coffea IA · Respaldo 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1ECE3"/>
        </a:solidFill>
        <a:effectLst/>
      </p:bgPr>
    </p:bg>
    <p:spTree>
      <p:nvGrpSpPr>
        <p:cNvPr id="1" name=""/>
        <p:cNvGrpSpPr/>
        <p:nvPr/>
      </p:nvGrpSpPr>
      <p:grpSpPr/>
      <p:sp>
        <p:nvSpPr>
          <p:cNvPr id="2" name="TextBox 1"/>
          <p:cNvSpPr txBox="1"/>
          <p:nvPr/>
        </p:nvSpPr>
        <p:spPr>
          <a:xfrm>
            <a:off x="548640" y="365760"/>
            <a:ext cx="7315200" cy="274320"/>
          </a:xfrm>
          <a:prstGeom prst="rect">
            <a:avLst/>
          </a:prstGeom>
          <a:noFill/>
        </p:spPr>
        <p:txBody>
          <a:bodyPr wrap="square" anchor="t">
            <a:spAutoFit/>
          </a:bodyPr>
          <a:lstStyle/>
          <a:p>
            <a:pPr algn="l">
              <a:lnSpc>
                <a:spcPct val="115000"/>
              </a:lnSpc>
            </a:pPr>
            <a:r>
              <a:rPr sz="1200" b="1">
                <a:solidFill>
                  <a:srgbClr val="8A8277"/>
                </a:solidFill>
                <a:latin typeface="Calibri"/>
              </a:rPr>
              <a:t>RESPALDO — PREGUNTAS QUE PUEDE HACER EL JURADO</a:t>
            </a:r>
          </a:p>
        </p:txBody>
      </p:sp>
      <p:sp>
        <p:nvSpPr>
          <p:cNvPr id="3" name="TextBox 2"/>
          <p:cNvSpPr txBox="1"/>
          <p:nvPr/>
        </p:nvSpPr>
        <p:spPr>
          <a:xfrm>
            <a:off x="548640" y="1005840"/>
            <a:ext cx="11094415" cy="1188720"/>
          </a:xfrm>
          <a:prstGeom prst="rect">
            <a:avLst/>
          </a:prstGeom>
          <a:noFill/>
        </p:spPr>
        <p:txBody>
          <a:bodyPr wrap="square" anchor="t">
            <a:spAutoFit/>
          </a:bodyPr>
          <a:lstStyle/>
          <a:p>
            <a:pPr algn="l">
              <a:lnSpc>
                <a:spcPct val="115000"/>
              </a:lnSpc>
            </a:pPr>
            <a:r>
              <a:rPr sz="2600" b="1">
                <a:solidFill>
                  <a:srgbClr val="A8432B"/>
                </a:solidFill>
                <a:latin typeface="Georgia"/>
              </a:rPr>
              <a:t>¿Por qué Logístico o Gompertz a veces no convergen?</a:t>
            </a:r>
          </a:p>
        </p:txBody>
      </p:sp>
      <p:sp>
        <p:nvSpPr>
          <p:cNvPr id="4" name="TextBox 3"/>
          <p:cNvSpPr txBox="1"/>
          <p:nvPr/>
        </p:nvSpPr>
        <p:spPr>
          <a:xfrm>
            <a:off x="548640" y="2468880"/>
            <a:ext cx="11094415" cy="3657600"/>
          </a:xfrm>
          <a:prstGeom prst="rect">
            <a:avLst/>
          </a:prstGeom>
          <a:noFill/>
        </p:spPr>
        <p:txBody>
          <a:bodyPr wrap="square" anchor="t">
            <a:spAutoFit/>
          </a:bodyPr>
          <a:lstStyle/>
          <a:p>
            <a:pPr algn="l">
              <a:lnSpc>
                <a:spcPct val="135000"/>
              </a:lnSpc>
            </a:pPr>
            <a:r>
              <a:rPr sz="1900" b="0">
                <a:solidFill>
                  <a:srgbClr val="201C18"/>
                </a:solidFill>
                <a:latin typeface="Calibri"/>
              </a:rPr>
              <a:t>Con solo 4 días de muestreo por grupo, un modelo de 3 parámetros como Logístico o Gompertz tiene apenas 1 grado de libertad. Si la curva observada no muestra todavía el «codo» de desaceleración, curve_fit no encuentra una solución estable: la app lo marca como «No convergió» en vez de forzar un ajuste.</a:t>
            </a:r>
          </a:p>
        </p:txBody>
      </p:sp>
      <p:sp>
        <p:nvSpPr>
          <p:cNvPr id="5" name="TextBox 4"/>
          <p:cNvSpPr txBox="1"/>
          <p:nvPr/>
        </p:nvSpPr>
        <p:spPr>
          <a:xfrm>
            <a:off x="548640" y="6473952"/>
            <a:ext cx="3657600" cy="274320"/>
          </a:xfrm>
          <a:prstGeom prst="rect">
            <a:avLst/>
          </a:prstGeom>
          <a:noFill/>
        </p:spPr>
        <p:txBody>
          <a:bodyPr wrap="square" anchor="t">
            <a:spAutoFit/>
          </a:bodyPr>
          <a:lstStyle/>
          <a:p>
            <a:pPr algn="l">
              <a:lnSpc>
                <a:spcPct val="115000"/>
              </a:lnSpc>
            </a:pPr>
            <a:r>
              <a:rPr sz="1200" b="0">
                <a:solidFill>
                  <a:srgbClr val="8A8277"/>
                </a:solidFill>
                <a:latin typeface="Calibri"/>
              </a:rPr>
              <a:t>Coffea IA · Respaldo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1ECE3"/>
        </a:solidFill>
        <a:effectLst/>
      </p:bgPr>
    </p:bg>
    <p:spTree>
      <p:nvGrpSpPr>
        <p:cNvPr id="1" name=""/>
        <p:cNvGrpSpPr/>
        <p:nvPr/>
      </p:nvGrpSpPr>
      <p:grpSpPr/>
      <p:sp>
        <p:nvSpPr>
          <p:cNvPr id="2" name="TextBox 1"/>
          <p:cNvSpPr txBox="1"/>
          <p:nvPr/>
        </p:nvSpPr>
        <p:spPr>
          <a:xfrm>
            <a:off x="548640" y="365760"/>
            <a:ext cx="7315200" cy="274320"/>
          </a:xfrm>
          <a:prstGeom prst="rect">
            <a:avLst/>
          </a:prstGeom>
          <a:noFill/>
        </p:spPr>
        <p:txBody>
          <a:bodyPr wrap="square" anchor="t">
            <a:spAutoFit/>
          </a:bodyPr>
          <a:lstStyle/>
          <a:p>
            <a:pPr algn="l">
              <a:lnSpc>
                <a:spcPct val="115000"/>
              </a:lnSpc>
            </a:pPr>
            <a:r>
              <a:rPr sz="1200" b="1">
                <a:solidFill>
                  <a:srgbClr val="8A8277"/>
                </a:solidFill>
                <a:latin typeface="Calibri"/>
              </a:rPr>
              <a:t>RESPALDO — PREGUNTAS QUE PUEDE HACER EL JURADO</a:t>
            </a:r>
          </a:p>
        </p:txBody>
      </p:sp>
      <p:sp>
        <p:nvSpPr>
          <p:cNvPr id="3" name="TextBox 2"/>
          <p:cNvSpPr txBox="1"/>
          <p:nvPr/>
        </p:nvSpPr>
        <p:spPr>
          <a:xfrm>
            <a:off x="548640" y="1005840"/>
            <a:ext cx="11094415" cy="1188720"/>
          </a:xfrm>
          <a:prstGeom prst="rect">
            <a:avLst/>
          </a:prstGeom>
          <a:noFill/>
        </p:spPr>
        <p:txBody>
          <a:bodyPr wrap="square" anchor="t">
            <a:spAutoFit/>
          </a:bodyPr>
          <a:lstStyle/>
          <a:p>
            <a:pPr algn="l">
              <a:lnSpc>
                <a:spcPct val="115000"/>
              </a:lnSpc>
            </a:pPr>
            <a:r>
              <a:rPr sz="2600" b="1">
                <a:solidFill>
                  <a:srgbClr val="A8432B"/>
                </a:solidFill>
                <a:latin typeface="Georgia"/>
              </a:rPr>
              <a:t>¿Qué significa un R² alto con una K absurda?</a:t>
            </a:r>
          </a:p>
        </p:txBody>
      </p:sp>
      <p:sp>
        <p:nvSpPr>
          <p:cNvPr id="4" name="TextBox 3"/>
          <p:cNvSpPr txBox="1"/>
          <p:nvPr/>
        </p:nvSpPr>
        <p:spPr>
          <a:xfrm>
            <a:off x="548640" y="2468880"/>
            <a:ext cx="11094415" cy="3657600"/>
          </a:xfrm>
          <a:prstGeom prst="rect">
            <a:avLst/>
          </a:prstGeom>
          <a:noFill/>
        </p:spPr>
        <p:txBody>
          <a:bodyPr wrap="square" anchor="t">
            <a:spAutoFit/>
          </a:bodyPr>
          <a:lstStyle/>
          <a:p>
            <a:pPr algn="l">
              <a:lnSpc>
                <a:spcPct val="135000"/>
              </a:lnSpc>
            </a:pPr>
            <a:r>
              <a:rPr sz="1900" b="0">
                <a:solidFill>
                  <a:srgbClr val="201C18"/>
                </a:solidFill>
                <a:latin typeface="Calibri"/>
              </a:rPr>
              <a:t>R² alto solo dice que la curva pasa cerca de los puntos observados dentro del rango muestreado; no garantiza que la extrapolación de la asíntota K tenga sentido fuera de ese rango. Por eso el criterio de plausibilidad evalúa K por separado del R², con un límite de 1.5 veces el máximo observado.</a:t>
            </a:r>
          </a:p>
        </p:txBody>
      </p:sp>
      <p:sp>
        <p:nvSpPr>
          <p:cNvPr id="5" name="TextBox 4"/>
          <p:cNvSpPr txBox="1"/>
          <p:nvPr/>
        </p:nvSpPr>
        <p:spPr>
          <a:xfrm>
            <a:off x="548640" y="6473952"/>
            <a:ext cx="3657600" cy="274320"/>
          </a:xfrm>
          <a:prstGeom prst="rect">
            <a:avLst/>
          </a:prstGeom>
          <a:noFill/>
        </p:spPr>
        <p:txBody>
          <a:bodyPr wrap="square" anchor="t">
            <a:spAutoFit/>
          </a:bodyPr>
          <a:lstStyle/>
          <a:p>
            <a:pPr algn="l">
              <a:lnSpc>
                <a:spcPct val="115000"/>
              </a:lnSpc>
            </a:pPr>
            <a:r>
              <a:rPr sz="1200" b="0">
                <a:solidFill>
                  <a:srgbClr val="8A8277"/>
                </a:solidFill>
                <a:latin typeface="Calibri"/>
              </a:rPr>
              <a:t>Coffea IA · Respaldo 3/4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1ECE3"/>
        </a:solidFill>
        <a:effectLst/>
      </p:bgPr>
    </p:bg>
    <p:spTree>
      <p:nvGrpSpPr>
        <p:cNvPr id="1" name=""/>
        <p:cNvGrpSpPr/>
        <p:nvPr/>
      </p:nvGrpSpPr>
      <p:grpSpPr/>
      <p:sp>
        <p:nvSpPr>
          <p:cNvPr id="2" name="TextBox 1"/>
          <p:cNvSpPr txBox="1"/>
          <p:nvPr/>
        </p:nvSpPr>
        <p:spPr>
          <a:xfrm>
            <a:off x="548640" y="365760"/>
            <a:ext cx="7315200" cy="274320"/>
          </a:xfrm>
          <a:prstGeom prst="rect">
            <a:avLst/>
          </a:prstGeom>
          <a:noFill/>
        </p:spPr>
        <p:txBody>
          <a:bodyPr wrap="square" anchor="t">
            <a:spAutoFit/>
          </a:bodyPr>
          <a:lstStyle/>
          <a:p>
            <a:pPr algn="l">
              <a:lnSpc>
                <a:spcPct val="115000"/>
              </a:lnSpc>
            </a:pPr>
            <a:r>
              <a:rPr sz="1200" b="1">
                <a:solidFill>
                  <a:srgbClr val="8A8277"/>
                </a:solidFill>
                <a:latin typeface="Calibri"/>
              </a:rPr>
              <a:t>RESPALDO — PREGUNTAS QUE PUEDE HACER EL JURADO</a:t>
            </a:r>
          </a:p>
        </p:txBody>
      </p:sp>
      <p:sp>
        <p:nvSpPr>
          <p:cNvPr id="3" name="TextBox 2"/>
          <p:cNvSpPr txBox="1"/>
          <p:nvPr/>
        </p:nvSpPr>
        <p:spPr>
          <a:xfrm>
            <a:off x="548640" y="1005840"/>
            <a:ext cx="11094415" cy="1188720"/>
          </a:xfrm>
          <a:prstGeom prst="rect">
            <a:avLst/>
          </a:prstGeom>
          <a:noFill/>
        </p:spPr>
        <p:txBody>
          <a:bodyPr wrap="square" anchor="t">
            <a:spAutoFit/>
          </a:bodyPr>
          <a:lstStyle/>
          <a:p>
            <a:pPr algn="l">
              <a:lnSpc>
                <a:spcPct val="115000"/>
              </a:lnSpc>
            </a:pPr>
            <a:r>
              <a:rPr sz="2600" b="1">
                <a:solidFill>
                  <a:srgbClr val="A8432B"/>
                </a:solidFill>
                <a:latin typeface="Georgia"/>
              </a:rPr>
              <a:t>¿Qué falta para la validación externa?</a:t>
            </a:r>
          </a:p>
        </p:txBody>
      </p:sp>
      <p:sp>
        <p:nvSpPr>
          <p:cNvPr id="4" name="TextBox 3"/>
          <p:cNvSpPr txBox="1"/>
          <p:nvPr/>
        </p:nvSpPr>
        <p:spPr>
          <a:xfrm>
            <a:off x="548640" y="2468880"/>
            <a:ext cx="11094415" cy="3657600"/>
          </a:xfrm>
          <a:prstGeom prst="rect">
            <a:avLst/>
          </a:prstGeom>
          <a:noFill/>
        </p:spPr>
        <p:txBody>
          <a:bodyPr wrap="square" anchor="t">
            <a:spAutoFit/>
          </a:bodyPr>
          <a:lstStyle/>
          <a:p>
            <a:pPr algn="l">
              <a:lnSpc>
                <a:spcPct val="135000"/>
              </a:lnSpc>
            </a:pPr>
            <a:r>
              <a:rPr sz="1900" b="0">
                <a:solidFill>
                  <a:srgbClr val="201C18"/>
                </a:solidFill>
                <a:latin typeface="Calibri"/>
              </a:rPr>
              <a:t>Un conjunto de datos de Coffea arabica de un estudio distinto al de Aguirre-Medina et al., con mediciones individuales reales, para correr los mismos tres modelos y comparar métricas de ajuste fuera de muestra. Ese trabajo está en curso; todavía no hay resultados que presentar.</a:t>
            </a:r>
          </a:p>
        </p:txBody>
      </p:sp>
      <p:sp>
        <p:nvSpPr>
          <p:cNvPr id="5" name="TextBox 4"/>
          <p:cNvSpPr txBox="1"/>
          <p:nvPr/>
        </p:nvSpPr>
        <p:spPr>
          <a:xfrm>
            <a:off x="548640" y="6473952"/>
            <a:ext cx="3657600" cy="274320"/>
          </a:xfrm>
          <a:prstGeom prst="rect">
            <a:avLst/>
          </a:prstGeom>
          <a:noFill/>
        </p:spPr>
        <p:txBody>
          <a:bodyPr wrap="square" anchor="t">
            <a:spAutoFit/>
          </a:bodyPr>
          <a:lstStyle/>
          <a:p>
            <a:pPr algn="l">
              <a:lnSpc>
                <a:spcPct val="115000"/>
              </a:lnSpc>
            </a:pPr>
            <a:r>
              <a:rPr sz="1200" b="0">
                <a:solidFill>
                  <a:srgbClr val="8A8277"/>
                </a:solidFill>
                <a:latin typeface="Calibri"/>
              </a:rPr>
              <a:t>Coffea IA · Respaldo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